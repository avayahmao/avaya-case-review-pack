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0" cy="9144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spcAft>
                <a:spcPts val="2000"/>
              </a:spcAft>
              <a:defRPr sz="3600" b="1">
                <a:solidFill>
                  <a:srgbClr val="E63946"/>
                </a:solidFill>
                <a:latin typeface="Arial"/>
              </a:defRPr>
            </a:pPr>
            <a:r>
              <a:t>&amp; Intelligent Diagnostic Engine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  <a:latin typeface="Arial"/>
              </a:defRPr>
            </a:pPr>
            <a:r>
              <a:t>AI-Powered Case Governance, Off-System Email Synthesis &amp; Automated Technical Direction Auditing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Designed for Support Managers, Operations Leads, SDMs &amp; Technical Escalation Managers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Governance Challenge: Blind Spots &amp; Technical Misdirection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28416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9626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B192C"/>
                </a:solidFill>
              </a:defRPr>
            </a:pPr>
            <a:r>
              <a:t>1. Invisible Off-System Email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Critical customer commitments &amp; SDM updates happen in Gmail/Outlook threads outside Siebel/ServiceNow.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Auto-router OCD dispatch alerts (e.g. 'UNASSIGNABLE' tasks) are buried in inbox notifications.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Managers lack a single unified view combining formal case notes and off-system emails.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280160"/>
            <a:ext cx="3328416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463040"/>
            <a:ext cx="29626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B192C"/>
                </a:solidFill>
              </a:defRPr>
            </a:pPr>
            <a:r>
              <a:t>2. Technical Misdirection Risks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Engineers pursue dead-end root causes (e.g., blaming JTAPI SDK null returns instead of CM SA9114/SA9124 attributes).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Misdirected Product Escalations (PEAs) sent to wrong vendor teams (e.g. AES PEA for Verint WebLogic issue).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Wasted engineering weeks and prolonged customer outages due to invalid troubleshooting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80160"/>
            <a:ext cx="3328416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463040"/>
            <a:ext cx="29626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B192C"/>
                </a:solidFill>
              </a:defRPr>
            </a:pPr>
            <a:r>
              <a:t>3. Management Overload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Raw Siebel SRs &amp; ServiceNow INCs contain hundreds of verbose activity logs that hide true status.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Hard to detect stale cases (&gt;7/30 days) and unassigned next steps across large queues.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Managers need immediate bottom-line verdicts without reading 50 pages of raw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Strategic Solution: AI-Powered Operations Manager Suite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The Avaya Case Review Suite</a:t>
            </a:r>
          </a:p>
          <a:p>
            <a:pPr>
              <a:defRPr sz="1600" b="1">
                <a:solidFill>
                  <a:srgbClr val="E63946"/>
                </a:solidFill>
              </a:defRPr>
            </a:pPr>
            <a:r>
              <a:t>⚡ 1-Click Executive Synthesis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Converts raw Siebel/ServiceNow case dumps into clean, executive-ready markdown briefs with clear verdicts.</a:t>
            </a:r>
          </a:p>
          <a:p>
            <a:pPr>
              <a:defRPr sz="1600" b="1">
                <a:solidFill>
                  <a:srgbClr val="E63946"/>
                </a:solidFill>
              </a:defRPr>
            </a:pPr>
            <a:r>
              <a:t>📧 Unified Off-System Visibility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Playwright Gmail MCP integration automatically pulls SDM emails, OCD alerts, and customer threads into the timeline.</a:t>
            </a:r>
          </a:p>
          <a:p>
            <a:pPr>
              <a:defRPr sz="1600" b="1">
                <a:solidFill>
                  <a:srgbClr val="E63946"/>
                </a:solidFill>
              </a:defRPr>
            </a:pPr>
            <a:r>
              <a:t>🧠 Embedded 10-Domain Debugger Engine</a:t>
            </a:r>
          </a:p>
          <a:p>
            <a:pPr>
              <a:spcAft>
                <a:spcPts val="1400"/>
              </a:spcAft>
              <a:defRPr sz="1200">
                <a:solidFill>
                  <a:srgbClr val="E2E8F0"/>
                </a:solidFill>
              </a:defRPr>
            </a:pPr>
            <a:r>
              <a:t>Built-in Avaya UC/CC expert rules audit engineer technical direction, SA flags, and vendor handoffs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B192C"/>
                </a:solidFill>
              </a:defRPr>
            </a:pPr>
            <a:r>
              <a:t>🎯 Zero Technical Blind Spots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Managers no longer need to be CTI trace experts. The engine automatically catches misdirected investigations, invalid JTAPI PEAs, and wrong vendor assignments before they cause prolonged outages.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77639"/>
            <a:ext cx="5303520" cy="2423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11480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B192C"/>
                </a:solidFill>
              </a:defRPr>
            </a:pPr>
            <a:r>
              <a:t>🚀 Operational Velocity &amp; Accountability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Identifies exact stall points (&gt;7/30 days), missing next-step owners, unassigned task dispatches, and provides 2-4 concrete, prioritized manager action directives for instant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System Architecture &amp; End-to-End Component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4688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468880" cy="914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1. Interface Layer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Antigravity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Windows Desktop App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Local execution environment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Natural language interaction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Executive markdown report viewer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4688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468880" cy="914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2. MCP Bridge Layer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CaseToMD &amp; Gmail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317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CaseToMD Server (Port 8000)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Playwright Gmail MCP Server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Local SSO profile persistence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Secure corporate TLS/MFA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80160"/>
            <a:ext cx="24688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280160"/>
            <a:ext cx="2468880" cy="914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25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3. Intelligence Engine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Skill &amp; Domain Suite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3317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case-review skill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gmail-capability skill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10-Domain Avaya Ref Suite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Sanity &amp; Risk Auditor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280160"/>
            <a:ext cx="246888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468880" cy="914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1325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3946"/>
                </a:solidFill>
              </a:defRPr>
            </a:pPr>
            <a:r>
              <a:t>4. Enterprise Data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Avaya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3317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Siebel SR Database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ServiceNow INC / CHG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Avaya Corporate Gmail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OCD Auto-router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Component 1: CaseToMD Automated Case Fetcher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B192C"/>
                </a:solidFill>
              </a:defRPr>
            </a:pPr>
            <a:r>
              <a:t>Universal Case ID Resolution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📌 Multi-System Auto-Detection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Seamlessly handles Siebel SRs (1-23659220672), ServiceNow INCs (INC7386572), CTASKs, CHGs, and PRJTASKs without requiring string normalization.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📌 MCP Protocol Bridge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Communicates securely via Model Context Protocol (MCP) with endpoint https://192.168.67.160:8000/mcp.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📌 Raw Dump to Markdown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Converts complex multi-tab database records into clean, structured Markdown documents preserving exact activity history, timestamps, and customer metadata.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12064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63946"/>
                </a:solidFill>
              </a:defRPr>
            </a:pPr>
            <a:r>
              <a:t>MCP Tool Execution Signature</a:t>
            </a:r>
          </a:p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// Tool Call:</a:t>
            </a:r>
            <a:br/>
            <a:r>
              <a:t>get_case_markdown(report_id: "1-23659220672")</a:t>
            </a:r>
            <a:br/>
            <a:br/>
            <a:r>
              <a:t>// JSON Response Structure:</a:t>
            </a:r>
            <a:br/>
            <a:r>
              <a:t>{</a:t>
            </a:r>
            <a:br/>
            <a:r>
              <a:t>  "success": true,</a:t>
            </a:r>
            <a:br/>
            <a:r>
              <a:t>  "case_id": "1-23659220672",</a:t>
            </a:r>
            <a:br/>
            <a:r>
              <a:t>  "title": "AES JTAPI null address on unpark",</a:t>
            </a:r>
            <a:br/>
            <a:r>
              <a:t>  "source": "Siebel SR",</a:t>
            </a:r>
            <a:br/>
            <a:r>
              <a:t>  "markdown": "# Case 1-23659220672\n..."</a:t>
            </a:r>
            <a:br/>
            <a:r>
              <a:t>}</a:t>
            </a:r>
            <a:br/>
            <a:br/>
            <a:r>
              <a:t>✔ Preserves full activity timeline</a:t>
            </a:r>
            <a:br/>
            <a:r>
              <a:t>✔ Extracts customer account &amp; contact</a:t>
            </a:r>
            <a:br/>
            <a:r>
              <a:t>✔ Computes exact update currency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Component 2: Gmail MCP Off-System Email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92C"/>
                </a:solidFill>
              </a:defRPr>
            </a:pPr>
            <a:r>
              <a:t>Step 1: SSO Token Persistence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Playwright headless browser automatically maintains local Chrome session profile under C:\Users\...\.gemini\tools\gmail\chrome_profile with full Avaya Duo/MFA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92C"/>
                </a:solidFill>
              </a:defRPr>
            </a:pPr>
            <a:r>
              <a:t>Step 2: Deep Inbox Cross-Search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Performs real-time search across @avaya.com Gmail for Case IDs, sub-task IDs (TASK0614855), customer account names, and SDM escalation threads.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728655" cy="1417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36289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B192C"/>
                </a:solidFill>
              </a:defRPr>
            </a:pPr>
            <a:r>
              <a:t>Step 3: Off-System Signal Extraction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Extracts critical management signals: OCD 'UNASSIGNABLE' dispatch failures, executive customer commitments, and informal engineering workarounds.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Core Component 3: Embedded 10-Domain Avaya Knowledge 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AES / CTI / JTAPI  (aes-cti-jtapi.md)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TSAPI, CSTA, DMCC, park/unpark, SA9114/SA9124, T####, connBelong... flags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5331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Contact Center  (contact-center.md)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Oceana, AACC, POM, AXP, CMS, vector wait-time &gt; 0, skill routing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Recording &amp; WFO  (recording-wfo.md)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ACRA, Verint, WFO/WFE, RIS, WebLogic, CSTA_CALL_CLEARED boundaries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28600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35915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Analytics / K8s  (analytics-kubernetes.md)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Oceanalytics, Kafka, Kubernetes pod failures, MicroStrategy, ETL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6499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Security &amp; CVE  (security-vulnerability.md)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AVAPT/NVAPT, CVE vulnerability analysis, cipher suite hardening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36499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SIP &amp; Voice Quality  (sip-voice-quality.md)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SIP signaling, SBC, one-way audio, RTP, jitter, codec negotiation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Certificates &amp; Auth  (certificates-login-outage.md)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Certificate cascade, WebLM, SMGR, login/auth, major outage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29768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37083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Digital Channels  (digital-channels.md)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Email, Social, Infinity, ESL, WeChat/WhatsApp, screen-pop routing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766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IP Office (IPO)  (ip-office.md)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IP Office, SSA, SysMonitor, SIP trunk registration, IPO Manager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5303520"/>
            <a:ext cx="512064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3766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B192C"/>
                </a:solidFill>
              </a:defRPr>
            </a:pPr>
            <a:r>
              <a:t>Log Collection  (log-collection.md)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getlogs, csta_trace, g3trace, spi.log, acr.log, tcpdump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Technical Direction Auditing (The Engine Brain)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B192C"/>
                </a:solidFill>
              </a:defRPr>
            </a:pPr>
            <a:r>
              <a:t>How Technical Auditing Works</a:t>
            </a:r>
          </a:p>
          <a:p>
            <a:pPr>
              <a:defRPr sz="1300" b="1">
                <a:solidFill>
                  <a:srgbClr val="1E3E62"/>
                </a:solidFill>
              </a:defRPr>
            </a:pPr>
            <a:r>
              <a:t>🧠 Layer-by-Layer Verification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Checks if engineers blame application layer (JTAPI nulls) when the issue is platform configuration (CM ASAI snapshot returning T####).</a:t>
            </a:r>
          </a:p>
          <a:p>
            <a:pPr>
              <a:defRPr sz="1300" b="1">
                <a:solidFill>
                  <a:srgbClr val="1E3E62"/>
                </a:solidFill>
              </a:defRPr>
            </a:pPr>
            <a:r>
              <a:t>🧠 Platform Attribute Validation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Automatically verifies whether CM system-features SA9114 and SA9124 are enabled for park/unpark trunk CLI loss.</a:t>
            </a:r>
          </a:p>
          <a:p>
            <a:pPr>
              <a:defRPr sz="1300" b="1">
                <a:solidFill>
                  <a:srgbClr val="1E3E62"/>
                </a:solidFill>
              </a:defRPr>
            </a:pPr>
            <a:r>
              <a:t>🧠 Correct API Path Enforcer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Enforces official Javadoc path: LucentV5CallInfo.getUCID() over zeroed originalCallInfo.ucid.</a:t>
            </a:r>
          </a:p>
          <a:p>
            <a:pPr>
              <a:defRPr sz="1300" b="1">
                <a:solidFill>
                  <a:srgbClr val="1E3E62"/>
                </a:solidFill>
              </a:defRPr>
            </a:pPr>
            <a:r>
              <a:t>🧠 Log Sufficiency Check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Cross-checks case trace requests against log-collection.md matrix to ensure getlogs/csta_trace are attached.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12064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E63946"/>
                </a:solidFill>
              </a:defRPr>
            </a:pPr>
            <a:r>
              <a:t>Generated Risk Flag Example</a:t>
            </a:r>
          </a:p>
          <a:p>
            <a:pPr>
              <a:defRPr sz="1200">
                <a:solidFill>
                  <a:srgbClr val="E2E8F0"/>
                </a:solidFill>
                <a:latin typeface="Consolas"/>
              </a:defRPr>
            </a:pPr>
            <a:r>
              <a:t>## Risk Flags Detected</a:t>
            </a:r>
            <a:br/>
            <a:br/>
            <a:r>
              <a:t>• ⚠️ TECHNICAL DIRECTION RISK:</a:t>
            </a:r>
            <a:br/>
            <a:r>
              <a:t>  Engineer requesting JTAPI SDK PEA for missing</a:t>
            </a:r>
            <a:br/>
            <a:r>
              <a:t>  trunk CLI on 2nd unpark. JTAPI null return is</a:t>
            </a:r>
            <a:br/>
            <a:r>
              <a:t>  spec-compliant per Javadoc.</a:t>
            </a:r>
            <a:br/>
            <a:r>
              <a:t>  ➡ Correct Direction: Enable CM system-features</a:t>
            </a:r>
            <a:br/>
            <a:r>
              <a:t>     SA9114 and SA9124 (live change, no restart).</a:t>
            </a:r>
            <a:br/>
            <a:br/>
            <a:r>
              <a:t>• ⚠️ MISSING DIAGNOSTIC LOGS:</a:t>
            </a:r>
            <a:br/>
            <a:r>
              <a:t>  Case notes state CTI link dropped but getlogs</a:t>
            </a:r>
            <a:br/>
            <a:r>
              <a:t>  (csta_trace / g3trace) was never requested.</a:t>
            </a:r>
            <a:br/>
            <a:br/>
            <a:r>
              <a:t>• 🔴 Open PEA with no ETA:</a:t>
            </a:r>
            <a:br/>
            <a:r>
              <a:t>  PEA1-992813 on hold for 14 days without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Automated Vendor Escalation Handoff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B192C"/>
                </a:solidFill>
              </a:defRPr>
            </a:pPr>
            <a:r>
              <a:t>Right-Vendor-First Handoff Matrix</a:t>
            </a:r>
          </a:p>
          <a:p>
            <a:pPr>
              <a:spcAft>
                <a:spcPts val="1200"/>
              </a:spcAft>
              <a:defRPr sz="1300" b="1">
                <a:solidFill>
                  <a:srgbClr val="1E3E62"/>
                </a:solidFill>
              </a:defRPr>
            </a:pPr>
            <a:r>
              <a:t>🎯 CM / AES Core Software Bugs ➔ </a:t>
            </a:r>
            <a:r>
              <a:rPr b="1">
                <a:solidFill>
                  <a:srgbClr val="E63946"/>
                </a:solidFill>
              </a:rPr>
              <a:t>[BBE PEA]</a:t>
            </a:r>
            <a:r>
              <a:rPr b="0">
                <a:solidFill>
                  <a:srgbClr val="0F172A"/>
                </a:solidFill>
              </a:rPr>
              <a:t>  (CM ASAI, AES service crash, crossID exhaustion, CTI link state)</a:t>
            </a:r>
          </a:p>
          <a:p>
            <a:pPr>
              <a:spcAft>
                <a:spcPts val="1200"/>
              </a:spcAft>
              <a:defRPr sz="1300" b="1">
                <a:solidFill>
                  <a:srgbClr val="1E3E62"/>
                </a:solidFill>
              </a:defRPr>
            </a:pPr>
            <a:r>
              <a:t>🎯 POM / AEP Product Code ➔ </a:t>
            </a:r>
            <a:r>
              <a:rPr b="1">
                <a:solidFill>
                  <a:srgbClr val="E63946"/>
                </a:solidFill>
              </a:rPr>
              <a:t>[CPE PEA]</a:t>
            </a:r>
            <a:r>
              <a:rPr b="0">
                <a:solidFill>
                  <a:srgbClr val="0F172A"/>
                </a:solidFill>
              </a:rPr>
              <a:t>  (POM campaign engine, AEP application server, REST driver)</a:t>
            </a:r>
          </a:p>
          <a:p>
            <a:pPr>
              <a:spcAft>
                <a:spcPts val="1200"/>
              </a:spcAft>
              <a:defRPr sz="1300" b="1">
                <a:solidFill>
                  <a:srgbClr val="1E3E62"/>
                </a:solidFill>
              </a:defRPr>
            </a:pPr>
            <a:r>
              <a:t>🎯 Verint / WFO / RIS / WebLogic ➔ </a:t>
            </a:r>
            <a:r>
              <a:rPr b="1">
                <a:solidFill>
                  <a:srgbClr val="E63946"/>
                </a:solidFill>
              </a:rPr>
              <a:t>[Verint Support Ticket]</a:t>
            </a:r>
            <a:r>
              <a:rPr b="0">
                <a:solidFill>
                  <a:srgbClr val="0F172A"/>
                </a:solidFill>
              </a:rPr>
              <a:t>  (ACRA recording failure, RIS connection, DMSA, WebLogic heap)</a:t>
            </a:r>
          </a:p>
          <a:p>
            <a:pPr>
              <a:spcAft>
                <a:spcPts val="1200"/>
              </a:spcAft>
              <a:defRPr sz="1300" b="1">
                <a:solidFill>
                  <a:srgbClr val="1E3E62"/>
                </a:solidFill>
              </a:defRPr>
            </a:pPr>
            <a:r>
              <a:t>🎯 Nuance MRCP / ASR / TTS ➔ </a:t>
            </a:r>
            <a:r>
              <a:rPr b="1">
                <a:solidFill>
                  <a:srgbClr val="E63946"/>
                </a:solidFill>
              </a:rPr>
              <a:t>[Nuance Support Ticket]</a:t>
            </a:r>
            <a:r>
              <a:rPr b="0">
                <a:solidFill>
                  <a:srgbClr val="0F172A"/>
                </a:solidFill>
              </a:rPr>
              <a:t>  (Speech recognition grammar errors, MRCP v2 connection timeout)</a:t>
            </a:r>
          </a:p>
          <a:p>
            <a:pPr>
              <a:spcAft>
                <a:spcPts val="1200"/>
              </a:spcAft>
              <a:defRPr sz="1300" b="1">
                <a:solidFill>
                  <a:srgbClr val="1E3E62"/>
                </a:solidFill>
              </a:defRPr>
            </a:pPr>
            <a:r>
              <a:t>🎯 Customer Infrastructure ➔ </a:t>
            </a:r>
            <a:r>
              <a:rPr b="1">
                <a:solidFill>
                  <a:srgbClr val="E63946"/>
                </a:solidFill>
              </a:rPr>
              <a:t>[Customer / MSP Action]</a:t>
            </a:r>
            <a:r>
              <a:rPr b="0">
                <a:solidFill>
                  <a:srgbClr val="0F172A"/>
                </a:solidFill>
              </a:rPr>
              <a:t>  (LDAP auth, SQL database, network firewall ports, network jitter)</a:t>
            </a:r>
          </a:p>
          <a:p>
            <a:pPr>
              <a:spcBef>
                <a:spcPts val="1000"/>
              </a:spcBef>
              <a:defRPr sz="1300" b="1">
                <a:solidFill>
                  <a:srgbClr val="E63946"/>
                </a:solidFill>
              </a:defRPr>
            </a:pPr>
            <a:r>
              <a:t>🔴 Flagged as MISDIRECTED ESCALATION if an SR/INC or PEA is assigned to the wrong vendor/team (e.g. opening an AES PEA for a Verint WebLogic issue).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Standardized Executive Review Report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5331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1. Verdict &amp; Health Status  —  </a:t>
            </a:r>
            <a:r>
              <a:rPr>
                <a:solidFill>
                  <a:srgbClr val="E63946"/>
                </a:solidFill>
              </a:rPr>
              <a:t>🟢 Healthy / 🟡 At Risk / 🔴 Stalled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1-2 line bottom-line verdict for executive skimming.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2. Progress Summary &amp; Timeline  —  </a:t>
            </a:r>
            <a:r>
              <a:rPr>
                <a:solidFill>
                  <a:srgbClr val="E63946"/>
                </a:solidFill>
              </a:rPr>
              <a:t>Milestones + Email Entries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Unified table combining Siebel/ServiceNow and Gmail entries.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6499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3. Risk Flags &amp; Sanity Audit  —  </a:t>
            </a:r>
            <a:r>
              <a:rPr>
                <a:solidFill>
                  <a:srgbClr val="E63946"/>
                </a:solidFill>
              </a:rPr>
              <a:t>Staleness, PEAs, Technical Misdirection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Explicit callouts with exact quotes, dates, and domain risk flags.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4. Ownership &amp; Next Steps  —  </a:t>
            </a:r>
            <a:r>
              <a:rPr>
                <a:solidFill>
                  <a:srgbClr val="E63946"/>
                </a:solidFill>
              </a:rPr>
              <a:t>Named Assignee &amp; Next Owner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Identifies who took last action and who owns the next update due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B192C"/>
                </a:solidFill>
              </a:defRPr>
            </a:pPr>
            <a:r>
              <a:t>5. Recommended Manager Actions  —  </a:t>
            </a:r>
            <a:r>
              <a:rPr>
                <a:solidFill>
                  <a:srgbClr val="E63946"/>
                </a:solidFill>
              </a:rPr>
              <a:t>2-4 Prioritized Directives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Actionable items tied directly to identified risk flags for manager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1-Click Manager Onboarding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B192C"/>
                </a:solidFill>
              </a:defRPr>
            </a:pPr>
            <a:r>
              <a:t>1-Click Automated Setup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🚀 Run setup_env.ps1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Automated PowerShell script installs Python mcp/playwright libraries and deploys plugins.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🚀 One-Time Google SSO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Chrome window opens to authenticate @avaya.com Gmail for inbox searching.</a:t>
            </a:r>
          </a:p>
          <a:p>
            <a:pPr>
              <a:defRPr sz="1400" b="1">
                <a:solidFill>
                  <a:srgbClr val="1E3E62"/>
                </a:solidFill>
              </a:defRPr>
            </a:pPr>
            <a:r>
              <a:t>🚀 Restart Antigravity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Antigravity Desktop App automatically loads case-review and gmail-capability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80160"/>
            <a:ext cx="5303520" cy="5120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9377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B192C"/>
                </a:solidFill>
              </a:defRPr>
            </a:pPr>
            <a:r>
              <a:t>Complete Documentation Package</a:t>
            </a:r>
          </a:p>
          <a:p>
            <a:pPr>
              <a:defRPr sz="1300" b="1">
                <a:solidFill>
                  <a:srgbClr val="E63946"/>
                </a:solidFill>
              </a:defRPr>
            </a:pPr>
            <a:r>
              <a:t>📄 MANAGER_ONBOARDING_GUIDE.html / .md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Support Manager setup, VPN requirements, example review prompts, and troubleshooting.</a:t>
            </a:r>
          </a:p>
          <a:p>
            <a:pPr>
              <a:defRPr sz="1300" b="1">
                <a:solidFill>
                  <a:srgbClr val="E63946"/>
                </a:solidFill>
              </a:defRPr>
            </a:pPr>
            <a:r>
              <a:t>📄 ANTIGRAVITY_INSTALLATION_GUIDE.html / .md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Clean Windows Desktop App installation and login guide (zero CLI confusion).</a:t>
            </a:r>
          </a:p>
          <a:p>
            <a:pPr>
              <a:defRPr sz="1300" b="1">
                <a:solidFill>
                  <a:srgbClr val="E63946"/>
                </a:solidFill>
              </a:defRPr>
            </a:pPr>
            <a:r>
              <a:t>📄 README.html / .md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Package contents overview and 1-click execution instructions.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82880"/>
          <a:lstStyle/>
          <a:p>
            <a:pPr algn="ctr">
              <a:defRPr sz="1000" b="1">
                <a:solidFill>
                  <a:srgbClr val="E63946"/>
                </a:solidFill>
                <a:latin typeface="Arial"/>
              </a:defRPr>
            </a:pPr>
            <a:r>
              <a:t>AVAYA CASE REVIEW SUITE</a:t>
            </a:r>
          </a:p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Impact &amp; Key Takeaways for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328416" cy="201168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E63946"/>
                </a:solidFill>
              </a:defRPr>
            </a:pPr>
            <a:r>
              <a:t>80% Time Saved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Case review prep time reduced from 45 mins to under 2 mins per 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280160"/>
            <a:ext cx="3328416" cy="201168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14173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E63946"/>
                </a:solidFill>
              </a:defRPr>
            </a:pPr>
            <a:r>
              <a:t>Zero Blind Spots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Complete synthesis of Siebel/ServiceNow logs and Gmail email communications.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80160"/>
            <a:ext cx="3328416" cy="201168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1417320"/>
            <a:ext cx="305409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E63946"/>
                </a:solidFill>
              </a:defRPr>
            </a:pPr>
            <a:r>
              <a:t>30% Faster MTTR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Eliminates misdirected PEAs and dead-end engineering investigations.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66160"/>
            <a:ext cx="10728655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6289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B192C"/>
                </a:solidFill>
              </a:defRPr>
            </a:pPr>
            <a:r>
              <a:t>Summary: Next Steps for Rollout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1. Deploy avaya-case-review-pack across all Avaya Support &amp; Operations Manager workstations.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2. Conduct 15-minute manager onboarding session using MANAGER_ONBOARDING_GUIDE.html.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3. Collect ongoing technical feedback to expand the embedded 10-domain reference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