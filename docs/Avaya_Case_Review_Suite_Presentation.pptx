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6fe7f4667144ac" /><Relationship Type="http://schemas.openxmlformats.org/officeDocument/2006/relationships/extended-properties" Target="/docProps/app.xml" Id="R4189637568274dd8" /><Relationship Type="http://schemas.openxmlformats.org/officeDocument/2006/relationships/officeDocument" Target="/ppt/presentation.xml" Id="R6b8fcc8156ba4d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f41623d4947be"/>
  </p:sldMasterIdLst>
  <p:notesMasterIdLst>
    <p:notesMasterId xmlns:r="http://schemas.openxmlformats.org/officeDocument/2006/relationships" r:id="R634446edc3fe4e25"/>
  </p:notesMasterIdLst>
  <p:sldIdLst>
    <p:sldId xmlns:r="http://schemas.openxmlformats.org/officeDocument/2006/relationships" id="256" r:id="R4115f8ee2cf6476c"/>
    <p:sldId xmlns:r="http://schemas.openxmlformats.org/officeDocument/2006/relationships" id="257" r:id="R277deec367e14dec"/>
    <p:sldId xmlns:r="http://schemas.openxmlformats.org/officeDocument/2006/relationships" id="258" r:id="R4bbb90d62e0d477f"/>
    <p:sldId xmlns:r="http://schemas.openxmlformats.org/officeDocument/2006/relationships" id="259" r:id="R42d5b56eaa91491c"/>
    <p:sldId xmlns:r="http://schemas.openxmlformats.org/officeDocument/2006/relationships" id="260" r:id="R291d913084db4193"/>
    <p:sldId xmlns:r="http://schemas.openxmlformats.org/officeDocument/2006/relationships" id="261" r:id="R15b01e85edb34677"/>
    <p:sldId xmlns:r="http://schemas.openxmlformats.org/officeDocument/2006/relationships" id="262" r:id="R977c15a06b0a4ac9"/>
    <p:sldId xmlns:r="http://schemas.openxmlformats.org/officeDocument/2006/relationships" id="263" r:id="R6f13159c387a4a3b"/>
    <p:sldId xmlns:r="http://schemas.openxmlformats.org/officeDocument/2006/relationships" id="264" r:id="R310798790bca487b"/>
    <p:sldId xmlns:r="http://schemas.openxmlformats.org/officeDocument/2006/relationships" id="265" r:id="R746ae0a81c654954"/>
    <p:sldId xmlns:r="http://schemas.openxmlformats.org/officeDocument/2006/relationships" id="266" r:id="R78c760f9aa734266"/>
    <p:sldId xmlns:r="http://schemas.openxmlformats.org/officeDocument/2006/relationships" id="267" r:id="R3daf3967730b44c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a6764ab7d34fce" /><Relationship Type="http://schemas.openxmlformats.org/officeDocument/2006/relationships/slideMaster" Target="/ppt/slideMasters/slideMaster1.xml" Id="Rd03f41623d4947be" /><Relationship Type="http://schemas.openxmlformats.org/officeDocument/2006/relationships/notesMaster" Target="/ppt/notesMasters/notesMaster1.xml" Id="R634446edc3fe4e25" /><Relationship Type="http://schemas.openxmlformats.org/officeDocument/2006/relationships/presProps" Target="/ppt/presProps.xml" Id="Reef53a5df5114cc1" /><Relationship Type="http://schemas.openxmlformats.org/officeDocument/2006/relationships/viewProps" Target="/ppt/viewProps.xml" Id="R7060920c55e041b3" /><Relationship Type="http://schemas.openxmlformats.org/officeDocument/2006/relationships/tableStyles" Target="/ppt/tableStyles.xml" Id="Rfddba358d5fd498f" /><Relationship Type="http://schemas.openxmlformats.org/officeDocument/2006/relationships/slide" Target="/ppt/slides/slide1.xml" Id="R4115f8ee2cf6476c" /><Relationship Type="http://schemas.openxmlformats.org/officeDocument/2006/relationships/slide" Target="/ppt/slides/slide2.xml" Id="R277deec367e14dec" /><Relationship Type="http://schemas.openxmlformats.org/officeDocument/2006/relationships/slide" Target="/ppt/slides/slide3.xml" Id="R4bbb90d62e0d477f" /><Relationship Type="http://schemas.openxmlformats.org/officeDocument/2006/relationships/slide" Target="/ppt/slides/slide4.xml" Id="R42d5b56eaa91491c" /><Relationship Type="http://schemas.openxmlformats.org/officeDocument/2006/relationships/slide" Target="/ppt/slides/slide5.xml" Id="R291d913084db4193" /><Relationship Type="http://schemas.openxmlformats.org/officeDocument/2006/relationships/slide" Target="/ppt/slides/slide6.xml" Id="R15b01e85edb34677" /><Relationship Type="http://schemas.openxmlformats.org/officeDocument/2006/relationships/slide" Target="/ppt/slides/slide7.xml" Id="R977c15a06b0a4ac9" /><Relationship Type="http://schemas.openxmlformats.org/officeDocument/2006/relationships/slide" Target="/ppt/slides/slide8.xml" Id="R6f13159c387a4a3b" /><Relationship Type="http://schemas.openxmlformats.org/officeDocument/2006/relationships/slide" Target="/ppt/slides/slide9.xml" Id="R310798790bca487b" /><Relationship Type="http://schemas.openxmlformats.org/officeDocument/2006/relationships/slide" Target="/ppt/slides/slide10.xml" Id="R746ae0a81c654954" /><Relationship Type="http://schemas.openxmlformats.org/officeDocument/2006/relationships/slide" Target="/ppt/slides/slide11.xml" Id="R78c760f9aa734266" /><Relationship Type="http://schemas.openxmlformats.org/officeDocument/2006/relationships/slide" Target="/ppt/slides/slide12.xml" Id="R3daf3967730b44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21e8cd997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f67526c8947af" /><Relationship Type="http://schemas.openxmlformats.org/officeDocument/2006/relationships/notesMaster" Target="/ppt/notesMasters/notesMaster1.xml" Id="Rb528334cf125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4f22a44074e18" /><Relationship Type="http://schemas.openxmlformats.org/officeDocument/2006/relationships/notesMaster" Target="/ppt/notesMasters/notesMaster1.xml" Id="R68a5ba91747044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b2ea8ab9c46c8" /><Relationship Type="http://schemas.openxmlformats.org/officeDocument/2006/relationships/notesMaster" Target="/ppt/notesMasters/notesMaster1.xml" Id="Re40276f3448f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0ed919d0ca4420" /><Relationship Type="http://schemas.openxmlformats.org/officeDocument/2006/relationships/notesMaster" Target="/ppt/notesMasters/notesMaster1.xml" Id="Rc861521947ea48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10444e7f84abe" /><Relationship Type="http://schemas.openxmlformats.org/officeDocument/2006/relationships/notesMaster" Target="/ppt/notesMasters/notesMaster1.xml" Id="R2cb556219811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963715d41a4f4f" /><Relationship Type="http://schemas.openxmlformats.org/officeDocument/2006/relationships/notesMaster" Target="/ppt/notesMasters/notesMaster1.xml" Id="R0cf3a569d87943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ecb71984c64d51" /><Relationship Type="http://schemas.openxmlformats.org/officeDocument/2006/relationships/notesMaster" Target="/ppt/notesMasters/notesMaster1.xml" Id="Rf2ad087d0959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b152878159468e" /><Relationship Type="http://schemas.openxmlformats.org/officeDocument/2006/relationships/notesMaster" Target="/ppt/notesMasters/notesMaster1.xml" Id="R6a8a0a3b76254b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fe9e78d8324863" /><Relationship Type="http://schemas.openxmlformats.org/officeDocument/2006/relationships/notesMaster" Target="/ppt/notesMasters/notesMaster1.xml" Id="R24e83539c88a46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71d91bd48945d8" /><Relationship Type="http://schemas.openxmlformats.org/officeDocument/2006/relationships/notesMaster" Target="/ppt/notesMasters/notesMaster1.xml" Id="R7e620eb00d3045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eb8e845af443d0" /><Relationship Type="http://schemas.openxmlformats.org/officeDocument/2006/relationships/notesMaster" Target="/ppt/notesMasters/notesMaster1.xml" Id="Rba758b0ff0e441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679e08b0914162" /><Relationship Type="http://schemas.openxmlformats.org/officeDocument/2006/relationships/notesMaster" Target="/ppt/notesMasters/notesMaster1.xml" Id="Rce5e74f77f5045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7cb762ddd46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1357e69714e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876cab92041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8cd34f59e48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73b53e6614d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68242c14c4d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3b70a164c4e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3f260896f46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9d992a83448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636d5c7d544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61d6e58114c6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5D9160-7D7F-49A3-AAE0-CD3A46BAB8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84F77C-17A0-4966-8948-72A451C580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BFC812-41E8-47F5-82D1-352F9EB26B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6BC2FB-5594-487C-8F01-93690F3D9A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C374F6-09A2-465E-86C8-885A43B179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F19618-E14D-4C6A-B023-76E335536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B9FF84-7E58-4C7A-AE08-5780540A52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1AD476-E0DB-4C45-8132-EE33B4ED24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50BE52-8174-4392-BEFC-44C4A2AE4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41C8E4-EBD8-4E58-958D-F3694B3E0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7B02ED-57DD-44FD-BC77-4A49D1E22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F59F7C-F443-4F33-BFD5-37C0D229D6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8C332F-2E2C-4639-BBED-45325A7B36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40D806-505D-4877-8D8F-CDCA280F52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403BC9-2565-4A69-9F98-5D54F88DC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D51C14-EF6A-4509-B463-CD0147F94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302BA9-C542-4697-AB47-D6E668EE27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91B85B-D909-4FC2-8E46-0073D64583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C7E8AFE-0DD4-4FC1-8C7F-5510195CCD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1D8541-95B4-45A8-BD0D-9E2D27224F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DD4B66-85CA-4B8F-9B67-D078138BB2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9E42B-0E84-4CDC-AA32-9C56DC138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195102-ADC2-404F-8611-5E041AFFC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299B902-D0C4-48EA-B8EC-083F87D072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4CF5C99-2E52-4561-B006-2BF1326313F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622A8F0-2A52-4BFC-9693-A96EB08EFAD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AFFD9B5-FED3-41FF-8A64-A5FEF2AFEF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16A1229-7C0A-4926-A0B9-B4764F4B70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C879D91-2CF1-4BC2-B38E-8E4D051B82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ADCB8B-723F-4DB6-87EF-2415F6202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45297E-E6D6-4CB7-8686-7AE26FA7C8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8416223-4682-4505-BEF2-668992B140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5691846-42CA-4223-A94C-4399636B5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4D190BD-0443-4A96-84AA-7D922549EF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67DA351-3EA9-4ABC-A7B6-E713365040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E9DBEAE-EEE3-4682-9482-9652E1D13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7463FC-4965-4EB2-AC69-9CBBE9BFF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3FB3E5-DE9C-4ADA-BD87-990FBBFA8B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B86EAE9-1E04-4F33-A617-CD3A0BABEB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BDAA4C-F3FD-45F5-96A0-E30EE14FB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CE6312B-0A2A-4DCA-87CA-5D451B2DED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E6AD51-F9E6-4AEF-B80B-473EFE0535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D26606-B682-4F1F-A536-BFC598165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88FAF4-23EF-47D1-8FC9-EB770CA0A0C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B8FE66-49E3-4F8E-B277-23B5896156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BE9D61-DB6D-41BC-B06B-1E7F8374E0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235939-328E-42F2-909C-2922958815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BFCDAA-C0C9-400D-9D4E-5F728A2BF7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547DA8-DA01-4476-AEAD-6F23FCB54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4E9A55-D701-474A-90C3-8450875ED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01E95D-A000-4507-B863-88A667F22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97BA70-31E3-4DBD-AABE-90A009561E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BB32A1-F101-4E1C-8290-A238A0B78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199625B-B950-492B-87B9-DDFD24521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C8DAB7-F452-4BC4-8066-63555CA69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783900-F68A-4648-A36D-31B5DCE2C4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03F017-B77C-4F40-AD07-AA4497D2FB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67D57E-B660-4840-87E5-108E2C1D1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662e163a5491c" /><Relationship Type="http://schemas.openxmlformats.org/officeDocument/2006/relationships/slideLayout" Target="/ppt/slideLayouts/slideLayout1.xml" Id="R56ebdd6767194189" /><Relationship Type="http://schemas.openxmlformats.org/officeDocument/2006/relationships/slideLayout" Target="/ppt/slideLayouts/slideLayout2.xml" Id="Re0d51befcbb54f95" /><Relationship Type="http://schemas.openxmlformats.org/officeDocument/2006/relationships/slideLayout" Target="/ppt/slideLayouts/slideLayout3.xml" Id="R1028c208ddae4206" /><Relationship Type="http://schemas.openxmlformats.org/officeDocument/2006/relationships/slideLayout" Target="/ppt/slideLayouts/slideLayout4.xml" Id="R346bbee312924995" /><Relationship Type="http://schemas.openxmlformats.org/officeDocument/2006/relationships/slideLayout" Target="/ppt/slideLayouts/slideLayout5.xml" Id="R0c49be0f2420408b" /><Relationship Type="http://schemas.openxmlformats.org/officeDocument/2006/relationships/slideLayout" Target="/ppt/slideLayouts/slideLayout6.xml" Id="Rb4ffc71a07eb439c" /><Relationship Type="http://schemas.openxmlformats.org/officeDocument/2006/relationships/slideLayout" Target="/ppt/slideLayouts/slideLayout7.xml" Id="R11d4283c8cd74662" /><Relationship Type="http://schemas.openxmlformats.org/officeDocument/2006/relationships/slideLayout" Target="/ppt/slideLayouts/slideLayout8.xml" Id="R71cc3de2dcab40f5" /><Relationship Type="http://schemas.openxmlformats.org/officeDocument/2006/relationships/slideLayout" Target="/ppt/slideLayouts/slideLayout9.xml" Id="R81a8c5797eeb4d9f" /><Relationship Type="http://schemas.openxmlformats.org/officeDocument/2006/relationships/slideLayout" Target="/ppt/slideLayouts/slideLayout10.xml" Id="Rccd1f538d43a4460" /><Relationship Type="http://schemas.openxmlformats.org/officeDocument/2006/relationships/slideLayout" Target="/ppt/slideLayouts/slideLayout11.xml" Id="Rc18347c7a70f47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A1536F9-0FC2-4558-822F-C633222E6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0F147D-07A8-405E-A771-320D73AF6E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F152F5-C7F1-4420-974F-88F140F852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234B17-0CFE-4FD0-A5BA-DE4DED237F3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BD9DEC-F858-497F-9EC9-6AE6ADCE6E6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bdd6767194189"/>
    <p:sldLayoutId xmlns:r="http://schemas.openxmlformats.org/officeDocument/2006/relationships" id="2147483650" r:id="Re0d51befcbb54f95"/>
    <p:sldLayoutId xmlns:r="http://schemas.openxmlformats.org/officeDocument/2006/relationships" id="2147483651" r:id="R1028c208ddae4206"/>
    <p:sldLayoutId xmlns:r="http://schemas.openxmlformats.org/officeDocument/2006/relationships" id="2147483652" r:id="R346bbee312924995"/>
    <p:sldLayoutId xmlns:r="http://schemas.openxmlformats.org/officeDocument/2006/relationships" id="2147483653" r:id="R0c49be0f2420408b"/>
    <p:sldLayoutId xmlns:r="http://schemas.openxmlformats.org/officeDocument/2006/relationships" id="2147483654" r:id="Rb4ffc71a07eb439c"/>
    <p:sldLayoutId xmlns:r="http://schemas.openxmlformats.org/officeDocument/2006/relationships" id="2147483655" r:id="R11d4283c8cd74662"/>
    <p:sldLayoutId xmlns:r="http://schemas.openxmlformats.org/officeDocument/2006/relationships" id="2147483656" r:id="R71cc3de2dcab40f5"/>
    <p:sldLayoutId xmlns:r="http://schemas.openxmlformats.org/officeDocument/2006/relationships" id="2147483657" r:id="R81a8c5797eeb4d9f"/>
    <p:sldLayoutId xmlns:r="http://schemas.openxmlformats.org/officeDocument/2006/relationships" id="2147483658" r:id="Rccd1f538d43a4460"/>
    <p:sldLayoutId xmlns:r="http://schemas.openxmlformats.org/officeDocument/2006/relationships" id="2147483659" r:id="Rc18347c7a70f47c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f1b50b379a457c" /><Relationship Type="http://schemas.openxmlformats.org/officeDocument/2006/relationships/notesSlide" Target="/ppt/notesSlides/notesSlide1.xml" Id="Rc0b1492426274a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8e4bf4bf0043e0" /><Relationship Type="http://schemas.openxmlformats.org/officeDocument/2006/relationships/notesSlide" Target="/ppt/notesSlides/notesSlide2.xml" Id="Rd6134f3c4f4b4e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5d730f2b2d455f" /><Relationship Type="http://schemas.openxmlformats.org/officeDocument/2006/relationships/notesSlide" Target="/ppt/notesSlides/notesSlide3.xml" Id="R21d6b19556f6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810df8723d4ef9" /><Relationship Type="http://schemas.openxmlformats.org/officeDocument/2006/relationships/notesSlide" Target="/ppt/notesSlides/notesSlide4.xml" Id="Rf09e59826e1846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00f8bbf85c42da" /><Relationship Type="http://schemas.openxmlformats.org/officeDocument/2006/relationships/notesSlide" Target="/ppt/notesSlides/notesSlide5.xml" Id="Rb00da772356447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4155a725c545da" /><Relationship Type="http://schemas.openxmlformats.org/officeDocument/2006/relationships/notesSlide" Target="/ppt/notesSlides/notesSlide6.xml" Id="Rb09b2ff6661d45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e2787edf1e4c42" /><Relationship Type="http://schemas.openxmlformats.org/officeDocument/2006/relationships/notesSlide" Target="/ppt/notesSlides/notesSlide7.xml" Id="R0a690ee1c5ad41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e31affc6424810" /><Relationship Type="http://schemas.openxmlformats.org/officeDocument/2006/relationships/notesSlide" Target="/ppt/notesSlides/notesSlide8.xml" Id="R8fd735d4739f49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2578aafa1a4ab8" /><Relationship Type="http://schemas.openxmlformats.org/officeDocument/2006/relationships/notesSlide" Target="/ppt/notesSlides/notesSlide9.xml" Id="R7779d4000f9944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8684bf19b041d6" /><Relationship Type="http://schemas.openxmlformats.org/officeDocument/2006/relationships/notesSlide" Target="/ppt/notesSlides/notesSlide10.xml" Id="R110a80c7631245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dc4a37deca49b5" /><Relationship Type="http://schemas.openxmlformats.org/officeDocument/2006/relationships/notesSlide" Target="/ppt/notesSlides/notesSlide11.xml" Id="Rcf47233339ce41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d67692438f4831" /><Relationship Type="http://schemas.openxmlformats.org/officeDocument/2006/relationships/notesSlide" Target="/ppt/notesSlides/notesSlide12.xml" Id="R86707a1719c74d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9EE525-FD0F-450D-ACF6-DA001245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3716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9139AF2-B6C2-4F87-9A78-400F1A5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1069848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4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36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&amp; Intelligent Diagnostic Engine</a:t>
            </a:r>
          </a:p>
          <a:p xmlns:a="http://schemas.openxmlformats.org/drawingml/2006/main">
            <a:pPr>
              <a:spcAft>
                <a:spcPts val="3000"/>
              </a:spcAft>
              <a:buNone/>
              <a:defRPr sz="180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t>AI-Powered Case Governance, Off-System Email Synthesis &amp; Evidence-Grounded Technical Assessment</a:t>
            </a:r>
          </a:p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Designed for Support Managers, Operations Leads, SDMs &amp; Technical Escalation Managers</a:t>
            </a:r>
          </a:p>
        </p:txBody>
      </p:sp>
    </p:spTree>
    <p:extLst>
      <p:ext uri="{BB962C8B-B14F-4D97-AF65-F5344CB8AC3E}">
        <p14:creationId xmlns:p14="http://schemas.microsoft.com/office/powerpoint/2010/main" val="808711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35B2D1-12AD-442B-BAD5-29641561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Governance Challenge: Fragmented Evidence &amp; Technical Uncertainty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EF11237-904D-4F4A-A3F8-1686E3FB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5867128-4D9C-42CD-87C9-DD3FABF5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3328416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3CAAB4-CD64-4D99-B644-464420AC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2962656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0B192C"/>
                </a:solidFill>
              </a:defRPr>
            </a:pPr>
            <a:r>
              <a:t>1. Invisible Off-System Email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Customer commitments and SDM updates may sit in Gmail threads outside Siebel or ServiceNow.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OCD dispatch alerts, including 'UNASSIGNABLE' tasks, may be visible only in inbox notifications.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Managers need one evidence view spanning formal case notes and case-bounded email.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F385809-759E-48C2-B3A7-BD6C589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1280160"/>
            <a:ext cx="3328416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58CE03A-7C16-4EF9-9DC0-1516C6E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1463040"/>
            <a:ext cx="2962656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0B192C"/>
                </a:solidFill>
              </a:defRPr>
            </a:pPr>
            <a:r>
              <a:t>2. Technical Direction Uncertainty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Retrieved evidence may support competing hypotheses that require targeted validation.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Product references guide validation but do not prove cause; ownership stays unresolved until the failing component is evidenced.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Missing logs or incomplete validation can delay a supported conclusion.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21003AF-B455-4807-83F3-45C824E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280160"/>
            <a:ext cx="3328416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BAFF75C-D97F-4FED-8AFD-8E7991D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463040"/>
            <a:ext cx="2962656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0B192C"/>
                </a:solidFill>
              </a:defRPr>
            </a:pPr>
            <a:r>
              <a:t>3. Management Overload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Long Siebel SR and ServiceNow INC histories can obscure substantive progress.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Case freshness and unassigned next steps are difficult to track across large queues.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• </a:t>
            </a:r>
            <a:r>
              <a:t>Managers need a concise conclusion and a traceable path back to the supporting evidence.</a:t>
            </a:r>
          </a:p>
        </p:txBody>
      </p:sp>
    </p:spTree>
    <p:extLst>
      <p:ext uri="{BB962C8B-B14F-4D97-AF65-F5344CB8AC3E}">
        <p14:creationId xmlns:p14="http://schemas.microsoft.com/office/powerpoint/2010/main" val="9071520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10B42B-EF92-4DD7-8918-6B4E162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Strategic Solution: Evidence-Grounded Case Review Suite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3D0E9F-F585-4F5E-A3EC-929604A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6CBB957-39F3-4209-9D54-D13F562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12064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3C0CC3-CF45-4AC3-A4C0-72C4CCA3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54480"/>
            <a:ext cx="4572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600"/>
              </a:spcAft>
              <a:buNone/>
              <a:defRPr sz="2200" b="1">
                <a:solidFill>
                  <a:srgbClr val="FFFFFF"/>
                </a:solidFill>
              </a:defRPr>
            </a:pPr>
            <a:r>
              <a:t>The Avaya Case Review Suite</a:t>
            </a:r>
          </a:p>
          <a:p xmlns:a="http://schemas.openxmlformats.org/drawingml/2006/main">
            <a:pPr>
              <a:buNone/>
              <a:defRPr sz="1600" b="1">
                <a:solidFill>
                  <a:srgbClr val="E63946"/>
                </a:solidFill>
              </a:defRPr>
            </a:pPr>
            <a:r>
              <a:t>⚡ </a:t>
            </a:r>
            <a:r>
              <a:t>Structured Executive Review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200">
                <a:solidFill>
                  <a:srgbClr val="E2E8F0"/>
                </a:solidFill>
              </a:defRPr>
            </a:pPr>
            <a:r>
              <a:t>Combines retrieved case and email evidence into the six-section management brief.</a:t>
            </a:r>
          </a:p>
          <a:p xmlns:a="http://schemas.openxmlformats.org/drawingml/2006/main">
            <a:pPr>
              <a:buNone/>
              <a:defRPr sz="1600" b="1">
                <a:solidFill>
                  <a:srgbClr val="E63946"/>
                </a:solidFill>
              </a:defRPr>
            </a:pPr>
            <a:r>
              <a:t>📧 </a:t>
            </a:r>
            <a:r>
              <a:t>Case-Bounded Email Evidence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200">
                <a:solidFill>
                  <a:srgbClr val="E2E8F0"/>
                </a:solidFill>
              </a:defRPr>
            </a:pPr>
            <a:r>
              <a:t>The Managed Edge broker searches case and task identifiers; retrieved messages extend the evidence set.</a:t>
            </a:r>
          </a:p>
          <a:p xmlns:a="http://schemas.openxmlformats.org/drawingml/2006/main">
            <a:pPr>
              <a:buNone/>
              <a:defRPr sz="1600" b="1">
                <a:solidFill>
                  <a:srgbClr val="E63946"/>
                </a:solidFill>
              </a:defRPr>
            </a:pPr>
            <a:r>
              <a:t>🧠 </a:t>
            </a:r>
            <a:r>
              <a:t>Embedded 10-Domain Reference Suite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1200">
                <a:solidFill>
                  <a:srgbClr val="E2E8F0"/>
                </a:solidFill>
              </a:defRPr>
            </a:pPr>
            <a:r>
              <a:t>Product references suggest evidence-triggered checks and reference destinations; they do not prove cause.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19BCE6-E9AA-4FD8-84B7-8E50ACF0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80160"/>
            <a:ext cx="530352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A9D6962-17FD-4B0D-B9E3-77BA8044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49377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0B192C"/>
                </a:solidFill>
              </a:defRPr>
            </a:pPr>
            <a:r>
              <a:t>🎯 </a:t>
            </a:r>
            <a:r>
              <a:t>Evidence-Grounded Technical Review</a:t>
            </a:r>
          </a:p>
          <a:p xmlns:a="http://schemas.openxmlformats.org/drawingml/2006/main">
            <a:pPr>
              <a:buNone/>
              <a:defRPr sz="1300">
                <a:solidFill>
                  <a:srgbClr val="0F172A"/>
                </a:solidFill>
              </a:defRPr>
            </a:pPr>
            <a:r>
              <a:t>Highlights evidence-matched technical checks and source gaps for review without claiming completeness or causal proof.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FC68612-205A-4401-B308-F6D4667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39"/>
            <a:ext cx="530352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CDD47DA-2882-4FB3-B67E-EE99398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14800"/>
            <a:ext cx="49377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0B192C"/>
                </a:solidFill>
              </a:defRPr>
            </a:pPr>
            <a:r>
              <a:t>🚀 Operational Velocity &amp; Accountability</a:t>
            </a:r>
          </a:p>
          <a:p xmlns:a="http://schemas.openxmlformats.org/drawingml/2006/main">
            <a:pPr>
              <a:buNone/>
              <a:defRPr sz="1300">
                <a:solidFill>
                  <a:srgbClr val="0F172A"/>
                </a:solidFill>
              </a:defRPr>
            </a:pPr>
            <a:r>
              <a:t>Surfaces evidence-backed freshness, named ownership, dispatch status, and next-checkpoint visibility while the manager retains judgment.</a:t>
            </a:r>
          </a:p>
        </p:txBody>
      </p:sp>
    </p:spTree>
    <p:extLst>
      <p:ext uri="{BB962C8B-B14F-4D97-AF65-F5344CB8AC3E}">
        <p14:creationId xmlns:p14="http://schemas.microsoft.com/office/powerpoint/2010/main" val="7484112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E180C9-1859-463B-AC93-C99F8550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Current Architecture &amp; Evidence 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E2FA00-6014-4AD2-8639-98957C1B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72F93A3-4299-4ED3-BB56-0A07454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246888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E41D236-FE5E-40AE-B5CD-A2138EA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2468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E4CFAE-AB2E-4784-B296-94F34EA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63946"/>
                </a:solidFill>
              </a:defRPr>
            </a:pPr>
            <a:r>
              <a:t>1. Interface Layer</a:t>
            </a:r>
          </a:p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</a:defRPr>
            </a:pPr>
            <a:r>
              <a:t>Manager Interface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AC3625F-45C6-4CF0-836C-813AF75F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2194560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Windows desktop app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Local workflow execution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Case ID request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Executive review output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88CBF6D-A97A-4E04-9E5A-FF9931E2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280160"/>
            <a:ext cx="246888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89CC989-8D6D-409A-B6D6-ECB896B5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280160"/>
            <a:ext cx="2468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F640012-7914-40F0-8288-38728DE8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325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63946"/>
                </a:solidFill>
              </a:defRPr>
            </a:pPr>
            <a:r>
              <a:t>2. MCP Bridge Layer</a:t>
            </a:r>
          </a:p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</a:defRPr>
            </a:pPr>
            <a:r>
              <a:t>Case &amp; Email Bridges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086FDD-8E35-46EE-A535-6E242E3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31720"/>
            <a:ext cx="2194560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CaseToMD server (Port 8000)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Single Managed Edge Broker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Serialized Gmail MCP clients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Dedicated edge_broker_profile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69CA4E1-E3CC-462A-9B5D-38D0826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46888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D21053-D949-40EF-AB9F-18B5DE72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468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DB71CED-4958-42CA-9BBF-0D4161CE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63946"/>
                </a:solidFill>
              </a:defRPr>
            </a:pPr>
            <a:r>
              <a:t>3. Intelligence Engine</a:t>
            </a:r>
          </a:p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</a:defRPr>
            </a:pPr>
            <a:r>
              <a:t>Assessment &amp; References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2D1B59-6E1A-4225-BC19-BDDD80D4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0"/>
            <a:ext cx="2194560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case-review workflow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Gmail capability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10-domain reference suite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</a:t>
            </a:r>
            <a:r>
              <a:t>Evidence-grounded assessment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32F7A2-5B61-44D9-B913-7796D64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80160"/>
            <a:ext cx="246888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2873CAB-7D6C-4C66-B0A2-C0B26ADC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80160"/>
            <a:ext cx="2468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26F80F-34BB-4566-A4E2-1ACEE73C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325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63946"/>
                </a:solidFill>
              </a:defRPr>
            </a:pPr>
            <a:r>
              <a:t>4. Enterprise Data</a:t>
            </a:r>
          </a:p>
          <a:p xmlns:a="http://schemas.openxmlformats.org/drawingml/2006/main">
            <a:pPr>
              <a:buNone/>
              <a:defRPr sz="1400" b="1">
                <a:solidFill>
                  <a:srgbClr val="FFFFFF"/>
                </a:solidFill>
              </a:defRPr>
            </a:pPr>
            <a:r>
              <a:t>Evidence Sources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EB2B3B5-013E-4F74-9603-6084E7DF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331720"/>
            <a:ext cx="2194560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Siebel SR Database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ServiceNow INC / CHG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Avaya Corporate Gmail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✔ OCD Auto-router alerts</a:t>
            </a:r>
          </a:p>
        </p:txBody>
      </p:sp>
    </p:spTree>
    <p:extLst>
      <p:ext uri="{BB962C8B-B14F-4D97-AF65-F5344CB8AC3E}">
        <p14:creationId xmlns:p14="http://schemas.microsoft.com/office/powerpoint/2010/main" val="479150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3D66338-A431-47BB-8710-A8B5586B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Core Component 1: CaseToMD Evidence-Preserving Fetcher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0D57CB-B265-4D6E-AF08-3BC11A80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ED204D3-09BF-4A3C-89AB-A782E4DD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12064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860FAB-7155-4BD5-8669-F488ACF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475488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0B192C"/>
                </a:solidFill>
              </a:defRPr>
            </a:pPr>
            <a:r>
              <a:t>Universal Case ID Resolution</a:t>
            </a:r>
          </a:p>
          <a:p xmlns:a="http://schemas.openxmlformats.org/drawingml/2006/main">
            <a:pPr>
              <a:buNone/>
              <a:defRPr sz="1400" b="1">
                <a:solidFill>
                  <a:srgbClr val="1E3E62"/>
                </a:solidFill>
              </a:defRPr>
            </a:pPr>
            <a:r>
              <a:t>📌 Multi-System Auto-Detection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Seamlessly handles Siebel SRs (1-23659220672), ServiceNow INCs (INC7386572), CTASKs, CHGs, and PRJTASKs without requiring string normalization.</a:t>
            </a:r>
          </a:p>
          <a:p xmlns:a="http://schemas.openxmlformats.org/drawingml/2006/main">
            <a:pPr>
              <a:buNone/>
              <a:defRPr sz="1400" b="1">
                <a:solidFill>
                  <a:srgbClr val="1E3E62"/>
                </a:solidFill>
              </a:defRPr>
            </a:pPr>
            <a:r>
              <a:t>📌 MCP Protocol Bridge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Communicates securely via Model Context Protocol (MCP) with endpoint https://192.168.67.160:8000/mcp.</a:t>
            </a:r>
          </a:p>
          <a:p xmlns:a="http://schemas.openxmlformats.org/drawingml/2006/main">
            <a:pPr>
              <a:buNone/>
              <a:defRPr sz="1400" b="1">
                <a:solidFill>
                  <a:srgbClr val="1E3E62"/>
                </a:solidFill>
              </a:defRPr>
            </a:pPr>
            <a:r>
              <a:t>📌 </a:t>
            </a:r>
            <a:r>
              <a:t>Source Record to Markdown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Converts multi-tab records into structured Markdown while preserving activity history, timestamps, and customer metadata.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71B20E8-905B-4FFD-9907-3B9F750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80160"/>
            <a:ext cx="530352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F21E7AD-4AF5-4105-BCA4-7D9FA139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493776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1">
                <a:solidFill>
                  <a:srgbClr val="E63946"/>
                </a:solidFill>
              </a:defRPr>
            </a:pPr>
            <a:r>
              <a:t>MCP Tool Execution Signature</a:t>
            </a:r>
          </a:p>
          <a:p xmlns:a="http://schemas.openxmlformats.org/drawingml/2006/main">
            <a:pPr>
              <a:buNone/>
              <a:defRPr sz="120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// Tool Call:</a:t>
            </a:r>
            <a:br/>
            <a:r>
              <a:t>get_case_markdown(report_id: "1-23659220672")</a:t>
            </a:r>
            <a:br/>
            <a:br/>
            <a:r>
              <a:t>// JSON Response Structure:</a:t>
            </a:r>
            <a:br/>
            <a:r>
              <a:t>{</a:t>
            </a:r>
            <a:br/>
            <a:r>
              <a:t>  "success": true,</a:t>
            </a:r>
            <a:br/>
            <a:r>
              <a:t>  "case_id": "1-23659220672",</a:t>
            </a:r>
            <a:br/>
            <a:r>
              <a:t>  "title": "AES JTAPI null address on unpark",</a:t>
            </a:r>
            <a:br/>
            <a:r>
              <a:t>  "source": "Siebel SR",</a:t>
            </a:r>
            <a:br/>
            <a:r>
              <a:t>  "markdown": "# Case 1-23659220672\n..."</a:t>
            </a:r>
            <a:br/>
            <a:r>
              <a:t>}</a:t>
            </a:r>
            <a:br/>
            <a:br/>
            <a:r>
              <a:t>✔ Preserves full activity timeline</a:t>
            </a:r>
            <a:br/>
            <a:r>
              <a:t>✔ Extracts customer account &amp; contact</a:t>
            </a:r>
            <a:br/>
            <a:r>
              <a:t>✔ </a:t>
            </a:r>
            <a:r>
              <a:t>Preserves update timestamps</a:t>
            </a:r>
          </a:p>
        </p:txBody>
      </p:sp>
    </p:spTree>
    <p:extLst>
      <p:ext uri="{BB962C8B-B14F-4D97-AF65-F5344CB8AC3E}">
        <p14:creationId xmlns:p14="http://schemas.microsoft.com/office/powerpoint/2010/main" val="2586791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0F28A5-8D85-48F0-AB3D-5EBB19BA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Core Component 2: Single Managed Edge Gmail Bridge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A20111-C179-4A27-9BCD-EC877692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34D0754-008E-4C52-8B53-A40E027E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728655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596324-DBE3-47FE-B179-EDF2E51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36289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600" b="1">
                <a:solidFill>
                  <a:srgbClr val="0B192C"/>
                </a:solidFill>
              </a:defRPr>
            </a:pPr>
            <a:r>
              <a:t>Step 1: Single Managed Edge Broker</a:t>
            </a:r>
          </a:p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t>One broker serializes browser ownership across Gmail MCP clients and reuses the dedicated edge_broker_profile.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CE49DC-D122-4B4A-847A-25D18AA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10728655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D9CC2B0-6465-4E85-BF46-E2BE4BC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3240"/>
            <a:ext cx="1036289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600" b="1">
                <a:solidFill>
                  <a:srgbClr val="0B192C"/>
                </a:solidFill>
              </a:defRPr>
            </a:pPr>
            <a:r>
              <a:t>Step 2: Complete Context Before Analysis</a:t>
            </a:r>
          </a:p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t>Query Gmail with the primary raw Case ID only; retain related IDs as Case context.</a:t>
            </a:r>
            <a:r>
              <a:t> Every Case note is processed. </a:t>
            </a:r>
            <a:r>
              <a:t>Every message in every primary-ID-matched Gmail thread</a:t>
            </a:r>
            <a:r>
              <a:t> is read under one snapshot. Incomplete collection blocks the review. </a:t>
            </a:r>
            <a:r>
              <a:t>Attachment payloads are excluded; filenames and MIME metadata may be recorded.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3A4FBAB-2DCD-4B25-90A0-6125F12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10728655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AA4604-A14F-4A38-801D-AEF3F21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1036289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  <a:defRPr sz="1600" b="1">
                <a:solidFill>
                  <a:srgbClr val="0B192C"/>
                </a:solidFill>
              </a:defRPr>
            </a:pPr>
            <a:r>
              <a:t>Step 3: Conditional Managed Edge Sign-In</a:t>
            </a:r>
          </a:p>
          <a:p xmlns:a="http://schemas.openxmlformats.org/drawingml/2006/main">
            <a:pPr>
              <a:buNone/>
              <a:defRPr sz="1200">
                <a:solidFill>
                  <a:srgbClr val="0F172A"/>
                </a:solidFill>
              </a:defRPr>
            </a:pPr>
            <a:r>
              <a:t>Run gmail_brokerctl.py login only when gmail_brokerctl.py status reports authentication required; otherwise reuse the persistent session.</a:t>
            </a:r>
          </a:p>
        </p:txBody>
      </p:sp>
    </p:spTree>
    <p:extLst>
      <p:ext uri="{BB962C8B-B14F-4D97-AF65-F5344CB8AC3E}">
        <p14:creationId xmlns:p14="http://schemas.microsoft.com/office/powerpoint/2010/main" val="14337112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27D522-9F8D-41BD-AA60-A5386CA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Core Component 3: Embedded 10-Domain Avaya Knowledge Base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267E64-3BD5-4243-9C8E-E3F05B15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13CE156-6B62-45CB-8283-B3A8ACF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D46983-7C8A-4A6E-B260-258FCB3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331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AES / CTI / JTAPI  (aes-cti-jtapi.md)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TSAPI, CSTA, DMCC, park/unpark, SA9114/SA9124, T####, connBelong... flags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3F7DB1-A5AB-4A2C-97E8-B3A355D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8016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A1C8242-5799-4FBD-9E43-A6D9870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5331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Contact Center  (contact-center.md)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Oceana, AACC, POM, AXP, CMS, vector wait-time &gt; 0, skill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E1E2F0-08F8-457E-9ADC-1E872C5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704486-8AE5-45BF-80E2-5224FEAF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915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Recording &amp; WFO  (recording-wfo.md)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ACRA, Verint, WFO/WFE, RIS, WebLogic, CSTA_CALL_CLEARED boundaries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BC075C4-0EB8-430D-8BD2-EA536DB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8600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F9AD73-C5D2-4BA0-99BA-639B3AD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5915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Analytics / K8s  (analytics-kubernetes.md)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Oceanalytics, Kafka, Kubernetes pod failures, MicroStrategy, ETL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3D44F8-A671-494C-B9CE-D8A3D3E7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2BDDCDD-4CCB-4441-8E54-FA232301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6499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Security &amp; CVE  (security-vulnerability.md)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AVAPT/NVAPT, CVE vulnerability analysis, cipher suite hardening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52BBB86-E58B-4D20-B58F-2E77406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9184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1C2A257-20B3-4BFF-B2DC-281B572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36499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SIP &amp; Voice Quality  (sip-voice-quality.md)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SIP signaling, SBC, one-way audio, RTP, jitter, codec negotiation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AAE9702-D0D9-4993-BA25-A7249EC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9768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A240BE-FF0C-47F0-8FEE-FE17A1A7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Certificates &amp; Auth  (certificates-login-outage.md)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Certificate cascade, WebLM, SMGR, login/auth, major outage recovery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4E4415D-1F1D-4F88-8940-E1851CF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9768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58334E-3FFD-47C6-BA70-606C6F1B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7083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Digital Channels  (digital-channels.md)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Email, Social, Infinity, ESL, WeChat/WhatsApp, screen-pop routing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6AAF849-A947-477E-A0D3-02B370B9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964134-3F85-4398-85EA-FE4A483B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7667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IP Office (IPO)  (ip-office.md)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IP Office, SSA, SysMonitor, SIP trunk registration, IPO Manager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BCF9321A-6158-486E-99E7-E74869EB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30352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149100-2D2E-48B9-B88E-4915870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7667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Log Collection  (log-collection.md)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getlogs, csta_trace, g3trace, spi.log, acr.log, tcpdump matrix</a:t>
            </a:r>
          </a:p>
        </p:txBody>
      </p:sp>
    </p:spTree>
    <p:extLst>
      <p:ext uri="{BB962C8B-B14F-4D97-AF65-F5344CB8AC3E}">
        <p14:creationId xmlns:p14="http://schemas.microsoft.com/office/powerpoint/2010/main" val="10670839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7B68957-8298-43D2-A342-233E3A6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Evidence-Grounded Technical Assessment (The Engine Brain)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FC6643-B7B5-4FFC-B106-2E92FD5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D1BB397-99EB-4B7C-BBFE-A13533C3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12064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0BD13C-3A76-41BA-8B7B-36A3B83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475488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0B192C"/>
                </a:solidFill>
              </a:defRPr>
            </a:pPr>
            <a:r>
              <a:t>How Evidence-Grounded Assessment Works</a:t>
            </a:r>
          </a:p>
          <a:p xmlns:a="http://schemas.openxmlformats.org/drawingml/2006/main">
            <a:pPr>
              <a:buNone/>
              <a:defRPr sz="1300" b="1">
                <a:solidFill>
                  <a:srgbClr val="1E3E62"/>
                </a:solidFill>
              </a:defRPr>
            </a:pPr>
            <a:r>
              <a:t>🧠 </a:t>
            </a:r>
            <a:r>
              <a:t>Cross-Layer Evidence Comparison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Compares supplied application and platform evidence. A matching pattern guides validation but does not establish cause.</a:t>
            </a:r>
          </a:p>
          <a:p xmlns:a="http://schemas.openxmlformats.org/drawingml/2006/main">
            <a:pPr>
              <a:buNone/>
              <a:defRPr sz="1300" b="1">
                <a:solidFill>
                  <a:srgbClr val="1E3E62"/>
                </a:solidFill>
              </a:defRPr>
            </a:pPr>
            <a:r>
              <a:t>🧠 </a:t>
            </a:r>
            <a:r>
              <a:t>Platform Configuration Evidence Check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References SA9114 and SA9124 when park/unpark trunk CLI loss is reported; it does not inspect the live platform.</a:t>
            </a:r>
          </a:p>
          <a:p xmlns:a="http://schemas.openxmlformats.org/drawingml/2006/main">
            <a:pPr>
              <a:buNone/>
              <a:defRPr sz="1300" b="1">
                <a:solidFill>
                  <a:srgbClr val="1E3E62"/>
                </a:solidFill>
              </a:defRPr>
            </a:pPr>
            <a:r>
              <a:t>🧠 </a:t>
            </a:r>
            <a:r>
              <a:t>API Method Reference Check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Compares case usage with official Javadoc, such as LucentV5CallInfo.getUCID(), without treating the comparison as causal proof.</a:t>
            </a:r>
          </a:p>
          <a:p xmlns:a="http://schemas.openxmlformats.org/drawingml/2006/main">
            <a:pPr>
              <a:buNone/>
              <a:defRPr sz="1300" b="1">
                <a:solidFill>
                  <a:srgbClr val="1E3E62"/>
                </a:solidFill>
              </a:defRPr>
            </a:pPr>
            <a:r>
              <a:t>🧠 Log Sufficiency Check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Records whether expected logs were requested, attached, or analyzed; it does not ensure collection or attachment.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5D10CD8-BC64-4060-90FA-1827D73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80160"/>
            <a:ext cx="530352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53F12E-81DB-4EF4-8DD1-E08818E5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493776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600" b="1">
                <a:solidFill>
                  <a:srgbClr val="E63946"/>
                </a:solidFill>
              </a:defRPr>
            </a:pPr>
            <a:r>
              <a:t>Technical Assessment Example</a:t>
            </a:r>
          </a:p>
          <a:p xmlns:a="http://schemas.openxmlformats.org/drawingml/2006/main">
            <a:pPr>
              <a:buNone/>
              <a:defRPr sz="120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t>## Technical &amp; Incident Assessment</a:t>
            </a:r>
            <a:br/>
            <a:br/>
            <a:r>
              <a:t>Problem clarification:</a:t>
            </a:r>
            <a:br/>
            <a:r>
              <a:t>  Missing trunk CLI is reported on a second</a:t>
            </a:r>
            <a:br/>
            <a:r>
              <a:t>  unpark; scope and reproducibility are not</a:t>
            </a:r>
            <a:br/>
            <a:r>
              <a:t>  established by the available record.</a:t>
            </a:r>
            <a:br/>
            <a:r>
              <a:t>Findings:</a:t>
            </a:r>
            <a:br/>
            <a:r>
              <a:t>  A JTAPI null is recorded; synchronized CM and JTAPI traces are absent.</a:t>
            </a:r>
            <a:br/>
            <a:br/>
            <a:r>
              <a:t>Cause state — Under Investigation:</a:t>
            </a:r>
            <a:br/>
            <a:r>
              <a:t>  CM configuration is a working hypothesis;</a:t>
            </a:r>
            <a:br/>
            <a:r>
              <a:t>  other paths remain open pending evidence.</a:t>
            </a:r>
            <a:br/>
            <a:br/>
            <a:r>
              <a:t>Validation state:</a:t>
            </a:r>
            <a:br/>
            <a:r>
              <a:t>  No change or customer-confirmed outcome is evidenced.</a:t>
            </a:r>
          </a:p>
        </p:txBody>
      </p:sp>
    </p:spTree>
    <p:extLst>
      <p:ext uri="{BB962C8B-B14F-4D97-AF65-F5344CB8AC3E}">
        <p14:creationId xmlns:p14="http://schemas.microsoft.com/office/powerpoint/2010/main" val="945111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8DC5F2-0C05-41BF-B1F9-F660CF5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Evidence-Grounded Vendor Handoff Review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A19E535-5996-419E-989C-6ADC0A0C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DBCBFD2-17EF-475A-8F0F-D05CCCE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728655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2CCC26-72C3-49A6-B5A5-8D168FC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10362895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0B192C"/>
                </a:solidFill>
              </a:defRPr>
            </a:pPr>
            <a:r>
              <a:t>Vendor Handoff Reference Matrix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300" b="1">
                <a:solidFill>
                  <a:srgbClr val="1E3E62"/>
                </a:solidFill>
              </a:defRPr>
            </a:pPr>
            <a:r>
              <a:t>🎯 </a:t>
            </a:r>
            <a:r>
              <a:t>Evidence-confirmed CM / AES core defect — reference destination:</a:t>
            </a:r>
            <a:r>
              <a:t> ➔ </a:t>
            </a:r>
            <a:r>
              <a:rPr b="1">
                <a:solidFill>
                  <a:srgbClr val="E63946"/>
                </a:solidFill>
              </a:rPr>
              <a:t>[BBE PEA]</a:t>
            </a:r>
            <a:r>
              <a:rPr b="0">
                <a:solidFill>
                  <a:srgbClr val="0F172A"/>
                </a:solidFill>
              </a:rPr>
              <a:t>  (CM ASAI, AES service crash, crossID exhaustion, CTI link state)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300" b="1">
                <a:solidFill>
                  <a:srgbClr val="1E3E62"/>
                </a:solidFill>
              </a:defRPr>
            </a:pPr>
            <a:r>
              <a:t>🎯 </a:t>
            </a:r>
            <a:r>
              <a:t>Evidence-confirmed POM / AEP product-code defect — reference destination:</a:t>
            </a:r>
            <a:r>
              <a:t> ➔ </a:t>
            </a:r>
            <a:r>
              <a:rPr b="1">
                <a:solidFill>
                  <a:srgbClr val="E63946"/>
                </a:solidFill>
              </a:rPr>
              <a:t>[CPE PEA]</a:t>
            </a:r>
            <a:r>
              <a:rPr b="0">
                <a:solidFill>
                  <a:srgbClr val="0F172A"/>
                </a:solidFill>
              </a:rPr>
              <a:t>  (POM campaign engine, AEP application server, REST driver)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300" b="1">
                <a:solidFill>
                  <a:srgbClr val="1E3E62"/>
                </a:solidFill>
              </a:defRPr>
            </a:pPr>
            <a:r>
              <a:t>🎯 </a:t>
            </a:r>
            <a:r>
              <a:t>Evidence-confirmed Verint / WFO / RIS / WebLogic defect — reference destination:</a:t>
            </a:r>
            <a:r>
              <a:t> ➔ </a:t>
            </a:r>
            <a:r>
              <a:rPr b="1">
                <a:solidFill>
                  <a:srgbClr val="E63946"/>
                </a:solidFill>
              </a:rPr>
              <a:t>[Verint Support Ticket]</a:t>
            </a:r>
            <a:r>
              <a:rPr b="0">
                <a:solidFill>
                  <a:srgbClr val="0F172A"/>
                </a:solidFill>
              </a:rPr>
              <a:t>  (ACRA recording failure, RIS connection, DMSA, WebLogic heap)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300" b="1">
                <a:solidFill>
                  <a:srgbClr val="1E3E62"/>
                </a:solidFill>
              </a:defRPr>
            </a:pPr>
            <a:r>
              <a:t>🎯 </a:t>
            </a:r>
            <a:r>
              <a:t>Evidence-confirmed Nuance MRCP / ASR / TTS defect — reference destination:</a:t>
            </a:r>
            <a:r>
              <a:t> ➔ </a:t>
            </a:r>
            <a:r>
              <a:rPr b="1">
                <a:solidFill>
                  <a:srgbClr val="E63946"/>
                </a:solidFill>
              </a:rPr>
              <a:t>[Nuance Support Ticket]</a:t>
            </a:r>
            <a:r>
              <a:rPr b="0">
                <a:solidFill>
                  <a:srgbClr val="0F172A"/>
                </a:solidFill>
              </a:rPr>
              <a:t>  (Speech recognition grammar errors, MRCP v2 connection timeout)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300" b="1">
                <a:solidFill>
                  <a:srgbClr val="1E3E62"/>
                </a:solidFill>
              </a:defRPr>
            </a:pPr>
            <a:r>
              <a:t>🎯 </a:t>
            </a:r>
            <a:r>
              <a:t>Evidence-confirmed customer infrastructure condition — reference destination:</a:t>
            </a:r>
            <a:r>
              <a:t> ➔ </a:t>
            </a:r>
            <a:r>
              <a:rPr b="1">
                <a:solidFill>
                  <a:srgbClr val="E63946"/>
                </a:solidFill>
              </a:rPr>
              <a:t>[Customer / MSP Action]</a:t>
            </a:r>
            <a:r>
              <a:rPr b="0">
                <a:solidFill>
                  <a:srgbClr val="0F172A"/>
                </a:solidFill>
              </a:rPr>
              <a:t>  (LDAP auth, SQL database, network firewall ports, network jitter)</a:t>
            </a:r>
          </a:p>
          <a:p xmlns:a="http://schemas.openxmlformats.org/drawingml/2006/main">
            <a:pPr>
              <a:spcBef>
                <a:spcPts val="1000"/>
              </a:spcBef>
              <a:buNone/>
              <a:defRPr sz="1300" b="1">
                <a:solidFill>
                  <a:srgbClr val="E63946"/>
                </a:solidFill>
              </a:defRPr>
            </a:pPr>
            <a:r>
              <a:t>🔴 </a:t>
            </a:r>
            <a:r>
              <a:t>Reference only after the failing component is evidenced. The manager retains ownership and risk judgment; this matrix does not assign a vendor.</a:t>
            </a:r>
          </a:p>
        </p:txBody>
      </p:sp>
    </p:spTree>
    <p:extLst>
      <p:ext uri="{BB962C8B-B14F-4D97-AF65-F5344CB8AC3E}">
        <p14:creationId xmlns:p14="http://schemas.microsoft.com/office/powerpoint/2010/main" val="21008127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27D522-9F8D-41BD-AA60-A5386CA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Standardized Executive Review Report Structure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267E64-3BD5-4243-9C8E-E3F05B15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13CE156-6B62-45CB-8283-B3A8ACF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D46983-7C8A-4A6E-B260-258FCB3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331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1. 6-8 Sentence Executive Summary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One conclusion-level paragraph: incident, impact, response, RCA state, mitigation, status, and next checkpoint.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3F7DB1-A5AB-4A2C-97E8-B3A355D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8016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A1C8242-5799-4FBD-9E43-A6D9870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5331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2. Technical &amp; Incident Assessment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Reasoning, findings, validation state, and unresolved gaps without repeating the summary.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E1E2F0-08F8-457E-9ADC-1E872C5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704486-8AE5-45BF-80E2-5224FEAF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915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3. Progress Summary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Substantive progress and validation outcomes across available sources.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BC075C4-0EB8-430D-8BD2-EA536DB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8600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F9AD73-C5D2-4BA0-99BA-639B3AD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5915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4. Ownership &amp; Next Step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Evidence-stated assignee, last action, next action, owner, and due date.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3D44F8-A671-494C-B9CE-D8A3D3E7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2BDDCDD-4CCB-4441-8E54-FA232301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6499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5. Timeline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Dated substantive events, oldest to newest; undated events follow.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52BBB86-E58B-4D20-B58F-2E77406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91840"/>
            <a:ext cx="5120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1C2A257-20B3-4BFF-B2DC-281B572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364992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1">
                <a:solidFill>
                  <a:srgbClr val="0B192C"/>
                </a:solidFill>
              </a:defRPr>
            </a:pPr>
            <a:r>
              <a:t>6. Appendix A — Evidence Register</a:t>
            </a:r>
          </a:p>
          <a:p xmlns:a="http://schemas.openxmlformats.org/drawingml/2006/main">
            <a:pPr>
              <a:buNone/>
              <a:defRPr sz="1000">
                <a:solidFill>
                  <a:srgbClr val="475569"/>
                </a:solidFill>
              </a:defRPr>
            </a:pPr>
            <a:r>
              <a:t>Final reverse-mapped evidence table; no inline citations.</a:t>
            </a:r>
          </a:p>
        </p:txBody>
      </p:sp>
    </p:spTree>
    <p:extLst>
      <p:ext uri="{BB962C8B-B14F-4D97-AF65-F5344CB8AC3E}">
        <p14:creationId xmlns:p14="http://schemas.microsoft.com/office/powerpoint/2010/main" val="10670839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85A596-B50C-424B-8DFF-A5EB6A57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Manager Onboarding &amp; Deployment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E4DF7A-5B6A-4806-BCE1-7EF24FF2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24A0ADD-090F-45A2-9EC8-22C49DBA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512064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14E70B3-D809-4525-B84C-AF96E72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475488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0B192C"/>
                </a:solidFill>
              </a:defRPr>
            </a:pPr>
            <a:r>
              <a:t>Automated Setup</a:t>
            </a:r>
          </a:p>
          <a:p xmlns:a="http://schemas.openxmlformats.org/drawingml/2006/main">
            <a:pPr>
              <a:buNone/>
              <a:defRPr sz="1400" b="1">
                <a:solidFill>
                  <a:srgbClr val="1E3E62"/>
                </a:solidFill>
              </a:defRPr>
            </a:pPr>
            <a:r>
              <a:t>🚀 Run setup_env.ps1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setup_env.ps1 deploys the skills, CaseToMD, Gmail MCP, and the Managed Edge broker.</a:t>
            </a:r>
          </a:p>
          <a:p xmlns:a="http://schemas.openxmlformats.org/drawingml/2006/main">
            <a:pPr>
              <a:buNone/>
              <a:defRPr sz="1400" b="1">
                <a:solidFill>
                  <a:srgbClr val="1E3E62"/>
                </a:solidFill>
              </a:defRPr>
            </a:pPr>
            <a:r>
              <a:t>🚀 </a:t>
            </a:r>
            <a:r>
              <a:t>Conditional Managed Edge Sign-In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Run gmail_brokerctl.py login only when gmail_brokerctl.py status reports authentication required.</a:t>
            </a:r>
          </a:p>
          <a:p xmlns:a="http://schemas.openxmlformats.org/drawingml/2006/main">
            <a:pPr>
              <a:buNone/>
              <a:defRPr sz="1400" b="1">
                <a:solidFill>
                  <a:srgbClr val="1E3E62"/>
                </a:solidFill>
              </a:defRPr>
            </a:pPr>
            <a:r>
              <a:t>🚀 Restart Antigravity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200">
                <a:solidFill>
                  <a:srgbClr val="0F172A"/>
                </a:solidFill>
              </a:defRPr>
            </a:pPr>
            <a:r>
              <a:t>Restart so the desktop app loads the deployed case-review and Gmail capability.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2F255AF-9686-4E77-B3CA-7B81F15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80160"/>
            <a:ext cx="5303520" cy="5120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CA0413-098D-42B9-8162-7DEB418C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493776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0B192C"/>
                </a:solidFill>
              </a:defRPr>
            </a:pPr>
            <a:r>
              <a:t>Complete Documentation Package</a:t>
            </a:r>
          </a:p>
          <a:p xmlns:a="http://schemas.openxmlformats.org/drawingml/2006/main">
            <a:pPr>
              <a:buNone/>
              <a:defRPr sz="1300" b="1">
                <a:solidFill>
                  <a:srgbClr val="E63946"/>
                </a:solidFill>
              </a:defRPr>
            </a:pPr>
            <a:r>
              <a:t>📄 MANAGER_ONBOARDING_GUIDE.html / .md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Support Manager setup, VPN requirements, example review prompts, and troubleshooting.</a:t>
            </a:r>
          </a:p>
          <a:p xmlns:a="http://schemas.openxmlformats.org/drawingml/2006/main">
            <a:pPr>
              <a:buNone/>
              <a:defRPr sz="1300" b="1">
                <a:solidFill>
                  <a:srgbClr val="E63946"/>
                </a:solidFill>
              </a:defRPr>
            </a:pPr>
            <a:r>
              <a:t>📄 ANTIGRAVITY_INSTALLATION_GUIDE.html / .md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Windows desktop installation and Managed Edge sign-in guidance.</a:t>
            </a:r>
          </a:p>
          <a:p xmlns:a="http://schemas.openxmlformats.org/drawingml/2006/main">
            <a:pPr>
              <a:buNone/>
              <a:defRPr sz="1300" b="1">
                <a:solidFill>
                  <a:srgbClr val="E63946"/>
                </a:solidFill>
              </a:defRPr>
            </a:pPr>
            <a:r>
              <a:t>📄 README.html / .md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100">
                <a:solidFill>
                  <a:srgbClr val="0F172A"/>
                </a:solidFill>
              </a:defRPr>
            </a:pPr>
            <a:r>
              <a:t>Package contents, workflow overview, and execution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979557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456B1C-A66F-4EC5-8EF9-A5120797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31520" tIns="182880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E63946"/>
                </a:solidFill>
                <a:latin typeface="Arial"/>
                <a:ea typeface="Arial"/>
                <a:cs typeface="Arial"/>
              </a:defRPr>
            </a:pPr>
            <a:r>
              <a:t>AVAYA CASE REVIEW SUITE</a:t>
            </a:r>
          </a:p>
          <a:p xmlns:a="http://schemas.openxmlformats.org/drawingml/2006/main">
            <a:pPr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Operational Capabilities &amp; Key Takeaways for Management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D576D1-5A9A-4E5B-8876-8D9449D1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2C366D9-CE03-4D73-BA2A-FA0833C9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3328416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9B6A0E4-01F3-4136-A779-06EB2255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305409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200" b="1">
                <a:solidFill>
                  <a:srgbClr val="E63946"/>
                </a:solidFill>
              </a:defRPr>
            </a:pPr>
            <a:r>
              <a:t>Faster Preparation</a:t>
            </a:r>
          </a:p>
          <a:p xmlns:a="http://schemas.openxmlformats.org/drawingml/2006/main">
            <a:pPr algn="ctr">
              <a:buNone/>
              <a:defRPr sz="1200">
                <a:solidFill>
                  <a:srgbClr val="FFFFFF"/>
                </a:solidFill>
              </a:defRPr>
            </a:pPr>
            <a:r>
              <a:t>Brings retrieved case and email evidence into one structured review with less source switching.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BF7AF0-2E97-4B57-B0EA-0EA2FEC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1280160"/>
            <a:ext cx="3328416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323F306-1BF6-4C2A-B13A-B3E194C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417320"/>
            <a:ext cx="305409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200" b="1">
                <a:solidFill>
                  <a:srgbClr val="E63946"/>
                </a:solidFill>
              </a:defRPr>
            </a:pPr>
            <a:r>
              <a:t>Evidence Traceability</a:t>
            </a:r>
          </a:p>
          <a:p xmlns:a="http://schemas.openxmlformats.org/drawingml/2006/main">
            <a:pPr algn="ctr">
              <a:buNone/>
              <a:defRPr sz="1200">
                <a:solidFill>
                  <a:srgbClr val="FFFFFF"/>
                </a:solidFill>
              </a:defRPr>
            </a:pPr>
            <a:r>
              <a:t>Maps conclusions to a final evidence register so the supporting source record can be inspected.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1030A6-BD74-46FF-8E62-92F8E538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280160"/>
            <a:ext cx="3328416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9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992EA5-27A4-4B68-AFEB-D0C0A0A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417320"/>
            <a:ext cx="305409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200" b="1">
                <a:solidFill>
                  <a:srgbClr val="E63946"/>
                </a:solidFill>
              </a:defRPr>
            </a:pPr>
            <a:r>
              <a:t>Earlier Escalation Signals</a:t>
            </a:r>
          </a:p>
          <a:p xmlns:a="http://schemas.openxmlformats.org/drawingml/2006/main">
            <a:pPr algn="ctr">
              <a:buNone/>
              <a:defRPr sz="1200">
                <a:solidFill>
                  <a:srgbClr val="FFFFFF"/>
                </a:solidFill>
              </a:defRPr>
            </a:pPr>
            <a:r>
              <a:t>Surfaces dated ownership, dispatch, staleness, and source-gap signals without claiming a resolution outcome.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19354E3-7DAB-46EF-AEFE-FE09E20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0728655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3F0AAE-1189-4D30-862F-031AF36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9039"/>
            <a:ext cx="10362895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0B192C"/>
                </a:solidFill>
              </a:defRPr>
            </a:pPr>
            <a:r>
              <a:t>Use in Practice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setup_env.ps1 deploys the pack to each manager workstation.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MANAGER_ONBOARDING_GUIDE.html covers sign-in, review prompts, and troubleshooting.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0F172A"/>
                </a:solidFill>
              </a:defRPr>
            </a:pPr>
            <a:r>
              <a:t>Technical feedback can expand the domain references while the evidence gate remains unchanged.</a:t>
            </a:r>
          </a:p>
        </p:txBody>
      </p:sp>
    </p:spTree>
    <p:extLst>
      <p:ext uri="{BB962C8B-B14F-4D97-AF65-F5344CB8AC3E}">
        <p14:creationId xmlns:p14="http://schemas.microsoft.com/office/powerpoint/2010/main" val="9855536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2026-08-11T03:40:42.3880000Z</dcterms:created>
  <dcterms:modified xsi:type="dcterms:W3CDTF">2026-08-11T03:40:42.3880000Z</dcterms:modified>
</coreProperties>
</file>