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efec2c392b340e1" /><Relationship Type="http://schemas.openxmlformats.org/officeDocument/2006/relationships/extended-properties" Target="/docProps/app.xml" Id="R585523cf0eaa4163" /><Relationship Type="http://schemas.openxmlformats.org/officeDocument/2006/relationships/officeDocument" Target="/ppt/presentation.xml" Id="R37f654bed1d0419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0b3b0c5ead043ab"/>
  </p:sldMasterIdLst>
  <p:notesMasterIdLst>
    <p:notesMasterId xmlns:r="http://schemas.openxmlformats.org/officeDocument/2006/relationships" r:id="R7eb0d1c0cd5342c4"/>
  </p:notesMasterIdLst>
  <p:sldIdLst>
    <p:sldId xmlns:r="http://schemas.openxmlformats.org/officeDocument/2006/relationships" id="256" r:id="Rb861b2f172114ce0"/>
    <p:sldId xmlns:r="http://schemas.openxmlformats.org/officeDocument/2006/relationships" id="257" r:id="R9b0db770f19f4028"/>
    <p:sldId xmlns:r="http://schemas.openxmlformats.org/officeDocument/2006/relationships" id="258" r:id="R42636ecc81e74a8b"/>
    <p:sldId xmlns:r="http://schemas.openxmlformats.org/officeDocument/2006/relationships" id="259" r:id="R1c6e4cb2d8434dc6"/>
    <p:sldId xmlns:r="http://schemas.openxmlformats.org/officeDocument/2006/relationships" id="260" r:id="Raad69d6474f949c3"/>
    <p:sldId xmlns:r="http://schemas.openxmlformats.org/officeDocument/2006/relationships" id="261" r:id="Rdc7d4ca3f9244c69"/>
    <p:sldId xmlns:r="http://schemas.openxmlformats.org/officeDocument/2006/relationships" id="262" r:id="R610f8638c21641e4"/>
    <p:sldId xmlns:r="http://schemas.openxmlformats.org/officeDocument/2006/relationships" id="263" r:id="R27a87c5cbf034f8b"/>
    <p:sldId xmlns:r="http://schemas.openxmlformats.org/officeDocument/2006/relationships" id="264" r:id="Rb5f314d3f7774eb8"/>
    <p:sldId xmlns:r="http://schemas.openxmlformats.org/officeDocument/2006/relationships" id="265" r:id="Rf53036bb26cc40bd"/>
    <p:sldId xmlns:r="http://schemas.openxmlformats.org/officeDocument/2006/relationships" id="266" r:id="R57a2b236edc9477b"/>
    <p:sldId xmlns:r="http://schemas.openxmlformats.org/officeDocument/2006/relationships" id="267" r:id="R64613dea85854bf6"/>
  </p:sldIdLst>
  <p:sldSz cx="12191695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9209909166041b8" /><Relationship Type="http://schemas.openxmlformats.org/officeDocument/2006/relationships/slideMaster" Target="/ppt/slideMasters/slideMaster1.xml" Id="R70b3b0c5ead043ab" /><Relationship Type="http://schemas.openxmlformats.org/officeDocument/2006/relationships/notesMaster" Target="/ppt/notesMasters/notesMaster1.xml" Id="R7eb0d1c0cd5342c4" /><Relationship Type="http://schemas.openxmlformats.org/officeDocument/2006/relationships/presProps" Target="/ppt/presProps.xml" Id="R5fc673d3081243a5" /><Relationship Type="http://schemas.openxmlformats.org/officeDocument/2006/relationships/viewProps" Target="/ppt/viewProps.xml" Id="R01dc4ca8662d4843" /><Relationship Type="http://schemas.openxmlformats.org/officeDocument/2006/relationships/tableStyles" Target="/ppt/tableStyles.xml" Id="Ree14fcf6ceff492d" /><Relationship Type="http://schemas.openxmlformats.org/officeDocument/2006/relationships/slide" Target="/ppt/slides/slide1.xml" Id="Rb861b2f172114ce0" /><Relationship Type="http://schemas.openxmlformats.org/officeDocument/2006/relationships/slide" Target="/ppt/slides/slide2.xml" Id="R9b0db770f19f4028" /><Relationship Type="http://schemas.openxmlformats.org/officeDocument/2006/relationships/slide" Target="/ppt/slides/slide3.xml" Id="R42636ecc81e74a8b" /><Relationship Type="http://schemas.openxmlformats.org/officeDocument/2006/relationships/slide" Target="/ppt/slides/slide4.xml" Id="R1c6e4cb2d8434dc6" /><Relationship Type="http://schemas.openxmlformats.org/officeDocument/2006/relationships/slide" Target="/ppt/slides/slide5.xml" Id="Raad69d6474f949c3" /><Relationship Type="http://schemas.openxmlformats.org/officeDocument/2006/relationships/slide" Target="/ppt/slides/slide6.xml" Id="Rdc7d4ca3f9244c69" /><Relationship Type="http://schemas.openxmlformats.org/officeDocument/2006/relationships/slide" Target="/ppt/slides/slide7.xml" Id="R610f8638c21641e4" /><Relationship Type="http://schemas.openxmlformats.org/officeDocument/2006/relationships/slide" Target="/ppt/slides/slide8.xml" Id="R27a87c5cbf034f8b" /><Relationship Type="http://schemas.openxmlformats.org/officeDocument/2006/relationships/slide" Target="/ppt/slides/slide9.xml" Id="Rb5f314d3f7774eb8" /><Relationship Type="http://schemas.openxmlformats.org/officeDocument/2006/relationships/slide" Target="/ppt/slides/slide10.xml" Id="Rf53036bb26cc40bd" /><Relationship Type="http://schemas.openxmlformats.org/officeDocument/2006/relationships/slide" Target="/ppt/slides/slide11.xml" Id="R57a2b236edc9477b" /><Relationship Type="http://schemas.openxmlformats.org/officeDocument/2006/relationships/slide" Target="/ppt/slides/slide12.xml" Id="R64613dea85854bf6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9fb78051f68485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debab369b524a07" /><Relationship Type="http://schemas.openxmlformats.org/officeDocument/2006/relationships/notesMaster" Target="/ppt/notesMasters/notesMaster1.xml" Id="Rb06045c11b154e6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fbee3a2a8be461a" /><Relationship Type="http://schemas.openxmlformats.org/officeDocument/2006/relationships/notesMaster" Target="/ppt/notesMasters/notesMaster1.xml" Id="R44904f0bc1c04965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381cf9ff2cb4b9e" /><Relationship Type="http://schemas.openxmlformats.org/officeDocument/2006/relationships/notesMaster" Target="/ppt/notesMasters/notesMaster1.xml" Id="R94fcd12baffd408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56e273ed924f4abc" /><Relationship Type="http://schemas.openxmlformats.org/officeDocument/2006/relationships/notesMaster" Target="/ppt/notesMasters/notesMaster1.xml" Id="R1b48239b1189490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9856c0f4bbdf4f4c" /><Relationship Type="http://schemas.openxmlformats.org/officeDocument/2006/relationships/notesMaster" Target="/ppt/notesMasters/notesMaster1.xml" Id="R01646a651ce94ed3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8fd789e5c8b409f" /><Relationship Type="http://schemas.openxmlformats.org/officeDocument/2006/relationships/notesMaster" Target="/ppt/notesMasters/notesMaster1.xml" Id="Rcfbb856c4229463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a3ff10f0f7149a2" /><Relationship Type="http://schemas.openxmlformats.org/officeDocument/2006/relationships/notesMaster" Target="/ppt/notesMasters/notesMaster1.xml" Id="Rd65823b026fa4bfa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384a4afa9fd4777" /><Relationship Type="http://schemas.openxmlformats.org/officeDocument/2006/relationships/notesMaster" Target="/ppt/notesMasters/notesMaster1.xml" Id="R38782e7a3b13460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e823573e6ad4b89" /><Relationship Type="http://schemas.openxmlformats.org/officeDocument/2006/relationships/notesMaster" Target="/ppt/notesMasters/notesMaster1.xml" Id="R8a608668fe164ed8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4ff5648ef17490a" /><Relationship Type="http://schemas.openxmlformats.org/officeDocument/2006/relationships/notesMaster" Target="/ppt/notesMasters/notesMaster1.xml" Id="R8b2781587e7b4715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4075a998dd0349ad" /><Relationship Type="http://schemas.openxmlformats.org/officeDocument/2006/relationships/notesMaster" Target="/ppt/notesMasters/notesMaster1.xml" Id="R0df207915a2445a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dd8e1f6e2014f34" /><Relationship Type="http://schemas.openxmlformats.org/officeDocument/2006/relationships/notesMaster" Target="/ppt/notesMasters/notesMaster1.xml" Id="R43de6e3a58b74ff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9176607dca94239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c4cc7c9a4f74a2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5bcaf515454f61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3fcb29906794524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982a05d7604997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60eefdde03d4f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73461104c0d40c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2b074c37944974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99485101407489d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484ad4a3654510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ab4beda70284997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D5D9160-7D7F-49A3-AAE0-CD3A46BAB8B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BF84F77C-17A0-4966-8948-72A451C5803E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BBFC812-41E8-47F5-82D1-352F9EB26B1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26BC2FB-5594-487C-8F01-93690F3D9AF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9C374F6-09A2-465E-86C8-885A43B179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09F19618-E14D-4C6A-B023-76E33553694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B9FF84-7E58-4C7A-AE08-5780540A525E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01AD476-E0DB-4C45-8132-EE33B4ED241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50BE52-8174-4392-BEFC-44C4A2AE439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541C8E4-EBD8-4E58-958D-F3694B3E0B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7B02ED-57DD-44FD-BC77-4A49D1E2284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B8F59F7C-F443-4F33-BFD5-37C0D229D63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38C332F-2E2C-4639-BBED-45325A7B365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B40D806-505D-4877-8D8F-CDCA280F520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5403BC9-2565-4A69-9F98-5D54F88DC1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CD51C14-EF6A-4509-B463-CD0147F945F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B3302BA9-C542-4697-AB47-D6E668EE272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1991B85B-D909-4FC2-8E46-0073D64583A0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AC7E8AFE-0DD4-4FC1-8C7F-5510195CCD6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21D8541-95B4-45A8-BD0D-9E2D27224F9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ADD4B66-85CA-4B8F-9B67-D078138BB2D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9E42B-0E84-4CDC-AA32-9C56DC138EA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56195102-ADC2-404F-8611-5E041AFFCA0B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5299B902-D0C4-48EA-B8EC-083F87D072B9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04CF5C99-2E52-4561-B006-2BF1326313F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1622A8F0-2A52-4BFC-9693-A96EB08EFADD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9AFFD9B5-FED3-41FF-8A64-A5FEF2AFEF01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16A1229-7C0A-4926-A0B9-B4764F4B706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6C879D91-2CF1-4BC2-B38E-8E4D051B82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CADCB8B-723F-4DB6-87EF-2415F620297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0A45297E-E6D6-4CB7-8686-7AE26FA7C8D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08416223-4682-4505-BEF2-668992B140B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25691846-42CA-4223-A94C-4399636B51D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44D190BD-0443-4A96-84AA-7D922549EF1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C67DA351-3EA9-4ABC-A7B6-E713365040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9DBEAE-EEE3-4682-9482-9652E1D133F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97463FC-4965-4EB2-AC69-9CBBE9BFFEA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AD3FB3E5-DE9C-4ADA-BD87-990FBBFA8B0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B86EAE9-1E04-4F33-A617-CD3A0BABEBEE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CBDAA4C-F3FD-45F5-96A0-E30EE14FB6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4CE6312B-0A2A-4DCA-87CA-5D451B2DEDD8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67E6AD51-F9E6-4AEF-B80B-473EFE0535E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ED26606-B682-4F1F-A536-BFC59816598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588FAF4-23EF-47D1-8FC9-EB770CA0A0C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C7B8FE66-49E3-4F8E-B277-23B58961562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BBE9D61-DB6D-41BC-B06B-1E7F8374E0F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9235939-328E-42F2-909C-2922958815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3BFCDAA-C0C9-400D-9D4E-5F728A2BF7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0547DA8-DA01-4476-AEAD-6F23FCB549A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CE4E9A55-D701-474A-90C3-8450875EDD04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3601E95D-A000-4507-B863-88A667F22C4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C97BA70-31E3-4DBD-AABE-90A009561E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8BB32A1-F101-4E1C-8290-A238A0B7800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2199625B-B950-492B-87B9-DDFD24521E0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1AC8DAB7-F452-4BC4-8066-63555CA6985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E783900-F68A-4648-A36D-31B5DCE2C47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8003F017-B77C-4F40-AD07-AA4497D2FBB2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367D57E-B660-4840-87E5-108E2C1D179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66c27b3c0f344963" /><Relationship Type="http://schemas.openxmlformats.org/officeDocument/2006/relationships/slideLayout" Target="/ppt/slideLayouts/slideLayout1.xml" Id="Ref3c9e3c1d304d19" /><Relationship Type="http://schemas.openxmlformats.org/officeDocument/2006/relationships/slideLayout" Target="/ppt/slideLayouts/slideLayout2.xml" Id="Rd28e985dabf04b61" /><Relationship Type="http://schemas.openxmlformats.org/officeDocument/2006/relationships/slideLayout" Target="/ppt/slideLayouts/slideLayout3.xml" Id="R59b858a6f03a4cf1" /><Relationship Type="http://schemas.openxmlformats.org/officeDocument/2006/relationships/slideLayout" Target="/ppt/slideLayouts/slideLayout4.xml" Id="R70aeb3c788584c91" /><Relationship Type="http://schemas.openxmlformats.org/officeDocument/2006/relationships/slideLayout" Target="/ppt/slideLayouts/slideLayout5.xml" Id="Rb31550fdc2da452f" /><Relationship Type="http://schemas.openxmlformats.org/officeDocument/2006/relationships/slideLayout" Target="/ppt/slideLayouts/slideLayout6.xml" Id="Ra8081577e74e459e" /><Relationship Type="http://schemas.openxmlformats.org/officeDocument/2006/relationships/slideLayout" Target="/ppt/slideLayouts/slideLayout7.xml" Id="R5774c221026441b5" /><Relationship Type="http://schemas.openxmlformats.org/officeDocument/2006/relationships/slideLayout" Target="/ppt/slideLayouts/slideLayout8.xml" Id="Rc1303ce4036b45b3" /><Relationship Type="http://schemas.openxmlformats.org/officeDocument/2006/relationships/slideLayout" Target="/ppt/slideLayouts/slideLayout9.xml" Id="Rd7f06d9f90114198" /><Relationship Type="http://schemas.openxmlformats.org/officeDocument/2006/relationships/slideLayout" Target="/ppt/slideLayouts/slideLayout10.xml" Id="R3d8c3f9e5fe74978" /><Relationship Type="http://schemas.openxmlformats.org/officeDocument/2006/relationships/slideLayout" Target="/ppt/slideLayouts/slideLayout11.xml" Id="R605aa2586d48433a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1A1536F9-0FC2-4558-822F-C633222E61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020F147D-07A8-405E-A771-320D73AF6E2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8F152F5-C7F1-4420-974F-88F140F852E2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44234B17-0CFE-4FD0-A5BA-DE4DED237F32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8BD9DEC-F858-497F-9EC9-6AE6ADCE6E6F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f3c9e3c1d304d19"/>
    <p:sldLayoutId xmlns:r="http://schemas.openxmlformats.org/officeDocument/2006/relationships" id="2147483650" r:id="Rd28e985dabf04b61"/>
    <p:sldLayoutId xmlns:r="http://schemas.openxmlformats.org/officeDocument/2006/relationships" id="2147483651" r:id="R59b858a6f03a4cf1"/>
    <p:sldLayoutId xmlns:r="http://schemas.openxmlformats.org/officeDocument/2006/relationships" id="2147483652" r:id="R70aeb3c788584c91"/>
    <p:sldLayoutId xmlns:r="http://schemas.openxmlformats.org/officeDocument/2006/relationships" id="2147483653" r:id="Rb31550fdc2da452f"/>
    <p:sldLayoutId xmlns:r="http://schemas.openxmlformats.org/officeDocument/2006/relationships" id="2147483654" r:id="Ra8081577e74e459e"/>
    <p:sldLayoutId xmlns:r="http://schemas.openxmlformats.org/officeDocument/2006/relationships" id="2147483655" r:id="R5774c221026441b5"/>
    <p:sldLayoutId xmlns:r="http://schemas.openxmlformats.org/officeDocument/2006/relationships" id="2147483656" r:id="Rc1303ce4036b45b3"/>
    <p:sldLayoutId xmlns:r="http://schemas.openxmlformats.org/officeDocument/2006/relationships" id="2147483657" r:id="Rd7f06d9f90114198"/>
    <p:sldLayoutId xmlns:r="http://schemas.openxmlformats.org/officeDocument/2006/relationships" id="2147483658" r:id="R3d8c3f9e5fe74978"/>
    <p:sldLayoutId xmlns:r="http://schemas.openxmlformats.org/officeDocument/2006/relationships" id="2147483659" r:id="R605aa2586d48433a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f5c6bc52c14093" /><Relationship Type="http://schemas.openxmlformats.org/officeDocument/2006/relationships/notesSlide" Target="/ppt/notesSlides/notesSlide1.xml" Id="R0b4b5b3bfb7a48e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f860c1a8ae24514" /><Relationship Type="http://schemas.openxmlformats.org/officeDocument/2006/relationships/notesSlide" Target="/ppt/notesSlides/notesSlide2.xml" Id="Rb60b954627f1481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efdb22478aa49d2" /><Relationship Type="http://schemas.openxmlformats.org/officeDocument/2006/relationships/notesSlide" Target="/ppt/notesSlides/notesSlide3.xml" Id="R4138858f875444f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e2590785e704822" /><Relationship Type="http://schemas.openxmlformats.org/officeDocument/2006/relationships/notesSlide" Target="/ppt/notesSlides/notesSlide4.xml" Id="R79089dc7a0e3412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990a3f40ce4f75" /><Relationship Type="http://schemas.openxmlformats.org/officeDocument/2006/relationships/notesSlide" Target="/ppt/notesSlides/notesSlide5.xml" Id="Ra7d9983d3028406a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5c1f1022cb04212" /><Relationship Type="http://schemas.openxmlformats.org/officeDocument/2006/relationships/notesSlide" Target="/ppt/notesSlides/notesSlide6.xml" Id="Rbf92dd24dbff4fc4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cbb066130b34352" /><Relationship Type="http://schemas.openxmlformats.org/officeDocument/2006/relationships/notesSlide" Target="/ppt/notesSlides/notesSlide7.xml" Id="R3467f96a266d4a2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d7026c32bc24681" /><Relationship Type="http://schemas.openxmlformats.org/officeDocument/2006/relationships/notesSlide" Target="/ppt/notesSlides/notesSlide8.xml" Id="Re1ad37d1b2cf4ad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cc2a12bb8f84273" /><Relationship Type="http://schemas.openxmlformats.org/officeDocument/2006/relationships/notesSlide" Target="/ppt/notesSlides/notesSlide9.xml" Id="Rca6b5b796e004478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74cf62b62a446ab" /><Relationship Type="http://schemas.openxmlformats.org/officeDocument/2006/relationships/notesSlide" Target="/ppt/notesSlides/notesSlide10.xml" Id="R2746a231829a491b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527deb44d4593" /><Relationship Type="http://schemas.openxmlformats.org/officeDocument/2006/relationships/notesSlide" Target="/ppt/notesSlides/notesSlide11.xml" Id="R6baf15a26ed447fb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94aaf59172d455f" /><Relationship Type="http://schemas.openxmlformats.org/officeDocument/2006/relationships/notesSlide" Target="/ppt/notesSlides/notesSlide12.xml" Id="R943d02acbf0e453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B192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79EE525-FD0F-450D-ACF6-DA0012455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011680"/>
            <a:ext cx="1371600" cy="914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E9139AF2-B6C2-4F87-9A78-400F1A52C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10698480" cy="3657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40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spcAft>
                <a:spcPts val="2000"/>
              </a:spcAft>
              <a:buNone/>
              <a:defRPr sz="36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&amp; Intelligent Diagnostic Engine</a:t>
            </a:r>
          </a:p>
          <a:p xmlns:a="http://schemas.openxmlformats.org/drawingml/2006/main">
            <a:pPr>
              <a:spcAft>
                <a:spcPts val="3000"/>
              </a:spcAft>
              <a:buNone/>
              <a:defRPr sz="1800">
                <a:solidFill>
                  <a:srgbClr val="CBD5E1"/>
                </a:solidFill>
                <a:latin typeface="Arial"/>
                <a:ea typeface="Arial"/>
                <a:cs typeface="Arial"/>
              </a:defRPr>
            </a:pPr>
            <a:r>
              <a:t>AI-Powered Case Governance, Off-System Email Synthesis &amp; Evidence-Grounded Technical Assessment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Designed for Support Managers, Operations Leads, SDMs &amp; Technical Escalation Managers</a:t>
            </a:r>
          </a:p>
        </p:txBody>
      </p:sp>
    </p:spTree>
    <p:extLst>
      <p:ext uri="{BB962C8B-B14F-4D97-AF65-F5344CB8AC3E}">
        <p14:creationId xmlns:p14="http://schemas.microsoft.com/office/powerpoint/2010/main" val="808711026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AE35B2D1-12AD-442B-BAD5-296415619E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The Governance Challenge: Fragmented Evidence &amp; Technical Uncertainty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FEF11237-904D-4F4A-A3F8-1686E3FB1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E5867128-4D9C-42CD-87C9-DD3FABF50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A53CAAB4-CD64-4D99-B644-464420AC6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1. Invisible Off-System Email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Customer commitments and SDM updates may sit in Gmail threads outside Siebel or ServiceNow.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OCD dispatch alerts, including 'UNASSIGNABLE' tasks, may be visible only in inbox notifications.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one evidence view spanning formal case notes and case-bounded email.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F385809-759E-48C2-B3A7-BD6C5894B6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58CE03A-7C16-4EF9-9DC0-1516C6E33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08576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2. Technical Direction Uncertainty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Retrieved evidence may support competing hypotheses that require targeted validation.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Product references guide validation but do not prove cause; ownership stays unresolved until the failing component is evidenced.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Missing logs or incomplete validation can delay a supported conclusion.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21003AF-B455-4807-83F3-45C824E61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BAFF75C-D97F-4FED-8AFD-8E7991D6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2752" y="1463040"/>
            <a:ext cx="2962656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3. Management Overload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Long Siebel SR and ServiceNow INC histories can obscure substantive progress.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Case freshness and unassigned next steps are difficult to track across large queues.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• </a:t>
            </a:r>
            <a:r>
              <a:t>Managers need a concise conclusion and a traceable path back to the supporting evidence.</a:t>
            </a:r>
          </a:p>
        </p:txBody>
      </p:sp>
    </p:spTree>
    <p:extLst>
      <p:ext uri="{BB962C8B-B14F-4D97-AF65-F5344CB8AC3E}">
        <p14:creationId xmlns:p14="http://schemas.microsoft.com/office/powerpoint/2010/main" val="90715209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CB10B42B-EF92-4DD7-8918-6B4E162A0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Strategic Solution: Evidence-Grounded Case Review Suite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93D0E9F-F585-4F5E-A3EC-929604AA9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56CBB957-39F3-4209-9D54-D13F562037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6A3C0CC3-CF45-4AC3-A4C0-72C4CCA35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5840" y="1554480"/>
            <a:ext cx="4572000" cy="457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600"/>
              </a:spcAft>
              <a:buNone/>
              <a:defRPr sz="2200" b="1">
                <a:solidFill>
                  <a:srgbClr val="FFFFFF"/>
                </a:solidFill>
              </a:defRPr>
            </a:pPr>
            <a:r>
              <a:t>The Avaya Case Review Suite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⚡ </a:t>
            </a:r>
            <a:r>
              <a:t>Structured Executive Review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Combines retrieved case and email evidence into the six-section management brief.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📧 </a:t>
            </a:r>
            <a:r>
              <a:t>Case-Bounded Email Evidence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The Managed Edge broker searches case and task identifiers; retrieved messages extend the evidence set.</a:t>
            </a:r>
          </a:p>
          <a:p xmlns:a="http://schemas.openxmlformats.org/drawingml/2006/main">
            <a:pPr>
              <a:buNone/>
              <a:defRPr sz="1600" b="1">
                <a:solidFill>
                  <a:srgbClr val="E63946"/>
                </a:solidFill>
              </a:defRPr>
            </a:pPr>
            <a:r>
              <a:t>🧠 </a:t>
            </a:r>
            <a:r>
              <a:t>Embedded 10-Domain Reference Suite</a:t>
            </a:r>
          </a:p>
          <a:p xmlns:a="http://schemas.openxmlformats.org/drawingml/2006/main">
            <a:pPr>
              <a:spcAft>
                <a:spcPts val="1400"/>
              </a:spcAft>
              <a:buNone/>
              <a:defRPr sz="1200">
                <a:solidFill>
                  <a:srgbClr val="E2E8F0"/>
                </a:solidFill>
              </a:defRPr>
            </a:pPr>
            <a:r>
              <a:t>Product references suggest evidence-triggered checks and reference destinations; they do not prove cause.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3519BCE6-E9AA-4FD8-84B7-8E50ACF0E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9D6962-17FD-4B0D-B9E3-77BA8044F2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1732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🎯 </a:t>
            </a:r>
            <a:r>
              <a:t>Evidence-Grounded Technical Review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Highlights evidence-matched technical checks and source gaps for review without claiming completeness or causal proof.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FC68612-205A-4401-B308-F6D4667A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3977639"/>
            <a:ext cx="5303520" cy="242316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CDD47DA-2882-4FB3-B67E-EE99398C5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114800"/>
            <a:ext cx="4937760" cy="2103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8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🚀 Operational Velocity &amp; Accountability</a:t>
            </a:r>
          </a:p>
          <a:p xmlns:a="http://schemas.openxmlformats.org/drawingml/2006/main">
            <a:pPr>
              <a:buNone/>
              <a:defRPr sz="1300">
                <a:solidFill>
                  <a:srgbClr val="0F172A"/>
                </a:solidFill>
              </a:defRPr>
            </a:pPr>
            <a:r>
              <a:t>Surfaces evidence-backed freshness, named ownership, dispatch status, and next-checkpoint visibility while the manager retains judgment.</a:t>
            </a:r>
          </a:p>
        </p:txBody>
      </p:sp>
    </p:spTree>
    <p:extLst>
      <p:ext uri="{BB962C8B-B14F-4D97-AF65-F5344CB8AC3E}">
        <p14:creationId xmlns:p14="http://schemas.microsoft.com/office/powerpoint/2010/main" val="74841122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2FE180C9-1859-463B-AC93-C99F8550D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Current Architecture &amp; Evidence Flow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8EE2FA00-6014-4AD2-8639-98957C1B9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72F93A3-4299-4ED3-BB56-0A074545B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E41D236-FE5E-40AE-B5CD-A2138EABA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9E4CFAE-AB2E-4784-B296-94F34EA3B7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1. Interface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Manager Interface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AC3625F-45C6-4CF0-836C-813AF75F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Windows desktop app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Local workflow execution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 ID request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Executive review output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88CBF6D-A97A-4E04-9E5A-FF9931E2B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B89CC989-8D6D-409A-B6D6-ECB896B57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8328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F640012-7914-40F0-8288-38728DE81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2. MCP Bridge Layer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Case &amp; Email Bridges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5086FDD-8E35-46EE-A535-6E242E3F4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044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CaseToMD server (Port 8000)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Single Managed Edge Broker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Serialized Gmail MCP clients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Dedicated edge_broker_profile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469CA4E1-E3CC-462A-9B5D-38D08267A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01D21053-D949-40EF-AB9F-18B5DE724A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1DB71CED-4958-42CA-9BBF-0D4161CE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3. Intelligence Engine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Assessment &amp; References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382D1B59-6E1A-4225-BC19-BDDD80D4C0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case-review workflow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Gmail capability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10-domain reference suite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</a:t>
            </a:r>
            <a:r>
              <a:t>Evidence-grounded assessment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B232F7A2-5B61-44D9-B913-7796D646D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F2873CAB-7D6C-4C66-B0A2-C0B26ADC8D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1280160"/>
            <a:ext cx="2468880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C426F80F-34BB-4566-A4E2-1ACEE73C1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78240" y="1325880"/>
            <a:ext cx="2286000" cy="8229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200" b="1">
                <a:solidFill>
                  <a:srgbClr val="E63946"/>
                </a:solidFill>
              </a:defRPr>
            </a:pPr>
            <a:r>
              <a:t>4. Enterprise Data</a:t>
            </a:r>
          </a:p>
          <a:p xmlns:a="http://schemas.openxmlformats.org/drawingml/2006/main">
            <a:pPr>
              <a:buNone/>
              <a:defRPr sz="1400" b="1">
                <a:solidFill>
                  <a:srgbClr val="FFFFFF"/>
                </a:solidFill>
              </a:defRPr>
            </a:pPr>
            <a:r>
              <a:t>Evidence Sources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3EB2B3B5-013E-4F74-9603-6084E7DF3F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3960" y="2331720"/>
            <a:ext cx="2194560" cy="3931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Siebel SR Database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ServiceNow INC / CHG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Avaya Corporate Gmail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✔ OCD Auto-router alerts</a:t>
            </a:r>
          </a:p>
        </p:txBody>
      </p:sp>
    </p:spTree>
    <p:extLst>
      <p:ext uri="{BB962C8B-B14F-4D97-AF65-F5344CB8AC3E}">
        <p14:creationId xmlns:p14="http://schemas.microsoft.com/office/powerpoint/2010/main" val="479150091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93D66338-A431-47BB-8710-A8B5586B6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1: CaseToMD Evidence-Preserving Fetcher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9A0D57CB-B265-4D6E-AF08-3BC11A80CF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ED204D3-09BF-4A3C-89AB-A782E4DDB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2860FAB-7155-4BD5-8669-F488ACFDAE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Universal Case ID Resolution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Multi-System Auto-Detection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Seamlessly handles Siebel SRs (1-23659220672), ServiceNow INCs (INC7386572), CTASKs, CHGs, and PRJTASKs without requiring string normalization.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MCP Protocol Bridge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Communicates securely via Model Context Protocol (MCP) with endpoint https://192.168.67.160:8000/mcp.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📌 </a:t>
            </a:r>
            <a:r>
              <a:t>Source Record to Markdown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Converts multi-tab records into structured Markdown while preserving activity history, timestamps, and customer metadata.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071B20E8-905B-4FFD-9907-3B9F75075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F21E7AD-4AF5-4105-BCA4-7D9FA1393A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MCP Tool Execution Signature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// Tool Call:</a:t>
            </a:r>
            <a:br/>
            <a:r>
              <a:t>get_case_markdown(report_id: "1-23659220672")</a:t>
            </a:r>
            <a:br/>
            <a:br/>
            <a:r>
              <a:t>// JSON Response Structure:</a:t>
            </a:r>
            <a:br/>
            <a:r>
              <a:t>{</a:t>
            </a:r>
            <a:br/>
            <a:r>
              <a:t>  "success": true,</a:t>
            </a:r>
            <a:br/>
            <a:r>
              <a:t>  "case_id": "1-23659220672",</a:t>
            </a:r>
            <a:br/>
            <a:r>
              <a:t>  "title": "AES JTAPI null address on unpark",</a:t>
            </a:r>
            <a:br/>
            <a:r>
              <a:t>  "source": "Siebel SR",</a:t>
            </a:r>
            <a:br/>
            <a:r>
              <a:t>  "markdown": "# Case 1-23659220672\n..."</a:t>
            </a:r>
            <a:br/>
            <a:r>
              <a:t>}</a:t>
            </a:r>
            <a:br/>
            <a:br/>
            <a:r>
              <a:t>✔ Preserves full activity timeline</a:t>
            </a:r>
            <a:br/>
            <a:r>
              <a:t>✔ Extracts customer account &amp; contact</a:t>
            </a:r>
            <a:br/>
            <a:r>
              <a:t>✔ </a:t>
            </a:r>
            <a:r>
              <a:t>Preserves update timestamps</a:t>
            </a:r>
          </a:p>
        </p:txBody>
      </p:sp>
    </p:spTree>
    <p:extLst>
      <p:ext uri="{BB962C8B-B14F-4D97-AF65-F5344CB8AC3E}">
        <p14:creationId xmlns:p14="http://schemas.microsoft.com/office/powerpoint/2010/main" val="258679166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B70F28A5-8D85-48F0-AB3D-5EBB19BA0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2: Single Managed Edge Gmail Bridge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41A20111-C179-4A27-9BCD-EC877692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34D0754-008E-4C52-8B53-A40E027E4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D596324-DBE3-47FE-B179-EDF2E513E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1732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1: Single Managed Edge Broker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One broker serializes browser ownership across Gmail MCP clients and reuses the dedicated edge_broker_profile.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44CE49DC-D122-4B4A-847A-25D18AAE0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D9CC2B0-6465-4E85-BF46-E2BE4BC6BA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6324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2: Complete Context Before Analysis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Freeze the primary and Case-note-related IDs. Every Case note is processed. Every message in every matched Gmail thread is read under one snapshot. Incomplete collection blocks the review. Attachments are excluded.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3A4FBAB-2DCD-4B25-90A0-6125F12D8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10728655" cy="141732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FAA4604-A14F-4A38-801D-AEF3F2174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709160"/>
            <a:ext cx="10362895" cy="1143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400"/>
              </a:spcAft>
              <a:buNone/>
              <a:defRPr sz="1600" b="1">
                <a:solidFill>
                  <a:srgbClr val="0B192C"/>
                </a:solidFill>
              </a:defRPr>
            </a:pPr>
            <a:r>
              <a:t>Step 3: Conditional Managed Edge Sign-In</a:t>
            </a:r>
          </a:p>
          <a:p xmlns:a="http://schemas.openxmlformats.org/drawingml/2006/main">
            <a:pPr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required; otherwise reuse the persistent session.</a:t>
            </a:r>
          </a:p>
        </p:txBody>
      </p:sp>
    </p:spTree>
    <p:extLst>
      <p:ext uri="{BB962C8B-B14F-4D97-AF65-F5344CB8AC3E}">
        <p14:creationId xmlns:p14="http://schemas.microsoft.com/office/powerpoint/2010/main" val="1433711244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Core Component 3: Embedded 10-Domain Avaya Knowledge Base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AES / CTI / JTAPI  (aes-cti-jtapi.md)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TSAPI, CSTA, DMCC, park/unpark, SA9114/SA9124, T####, connBelong... flags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Contact Center  (contact-center.md)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Oceana, AACC, POM, AXP, CMS, vector wait-time &gt; 0, skill routing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Recording &amp; WFO  (recording-wfo.md)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ACRA, Verint, WFO/WFE, RIS, WebLogic, CSTA_CALL_CLEARED boundaries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Analytics / K8s  (analytics-kubernetes.md)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Oceanalytics, Kafka, Kubernetes pod failures, MicroStrategy, ETL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Security &amp; CVE  (security-vulnerability.md)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AVAPT/NVAPT, CVE vulnerability analysis, cipher suite hardening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SIP &amp; Voice Quality  (sip-voice-quality.md)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SIP signaling, SBC, one-way audio, RTP, jitter, codec negotiation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0AAE9702-D0D9-4993-BA25-A7249EC4F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7A240BE-FF0C-47F0-8FEE-FE17A1A7F9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Certificates &amp; Auth  (certificates-login-outage.md)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Certificate cascade, WebLM, SMGR, login/auth, major outage recovery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64E4415D-1F1D-4F88-8940-E1851CF86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29768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658334E-3FFD-47C6-BA70-606C6F1B3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437083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Digital Channels  (digital-channels.md)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Email, Social, Infinity, ESL, WeChat/WhatsApp, screen-pop routing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E6AAF849-A947-477E-A0D3-02B370B9B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3964134-3F85-4398-85EA-FE4A483BA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IP Office (IPO)  (ip-office.md)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IP Office, SSA, SysMonitor, SIP trunk registration, IPO Manager</a:t>
            </a:r>
          </a:p>
        </p:txBody>
      </p:sp>
      <p:sp>
        <p:nvSpPr>
          <p:cNvPr id="22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BCF9321A-6158-486E-99E7-E74869EB5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530352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D4149100-2D2E-48B9-B88E-491587071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537667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Log Collection  (log-collection.md)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getlogs, csta_trace, g3trace, spi.log, acr.log, tcpdump matrix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F7B68957-8298-43D2-A342-233E3A62E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Technical Assessment (The Engine Brain)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4FC6643-B7B5-4FFC-B106-2E92FD563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D1BB397-99EB-4B7C-BBFE-A13533C3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30BD13C-3A76-41BA-8B7B-36A3B83D4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How Evidence-Grounded Assessment Works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Cross-Layer Evidence Comparison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supplied application and platform evidence. A matching pattern guides validation but does not establish cause.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Platform Configuration Evidence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References SA9114 and SA9124 when park/unpark trunk CLI loss is reported; it does not inspect the live platform.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</a:t>
            </a:r>
            <a:r>
              <a:t>API Method Reference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Compares case usage with official Javadoc, such as LucentV5CallInfo.getUCID(), without treating the comparison as causal proof.</a:t>
            </a:r>
          </a:p>
          <a:p xmlns:a="http://schemas.openxmlformats.org/drawingml/2006/main">
            <a:pPr>
              <a:buNone/>
              <a:defRPr sz="1300" b="1">
                <a:solidFill>
                  <a:srgbClr val="1E3E62"/>
                </a:solidFill>
              </a:defRPr>
            </a:pPr>
            <a:r>
              <a:t>🧠 Log Sufficiency Check</a:t>
            </a:r>
          </a:p>
          <a:p xmlns:a="http://schemas.openxmlformats.org/drawingml/2006/main">
            <a:pPr>
              <a:spcAft>
                <a:spcPts val="10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Records whether expected logs were requested, attached, or analyzed; it does not ensure collection or attachment.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5D10CD8-BC64-4060-90FA-1827D73B3F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253F12E-81DB-4EF4-8DD1-E08818E59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200"/>
              </a:spcAft>
              <a:buNone/>
              <a:defRPr sz="1600" b="1">
                <a:solidFill>
                  <a:srgbClr val="E63946"/>
                </a:solidFill>
              </a:defRPr>
            </a:pPr>
            <a:r>
              <a:t>Technical Assessment Example</a:t>
            </a:r>
          </a:p>
          <a:p xmlns:a="http://schemas.openxmlformats.org/drawingml/2006/main">
            <a:pPr>
              <a:buNone/>
              <a:defRPr sz="1200">
                <a:solidFill>
                  <a:srgbClr val="E2E8F0"/>
                </a:solidFill>
                <a:latin typeface="Consolas"/>
                <a:ea typeface="Consolas"/>
                <a:cs typeface="Consolas"/>
              </a:defRPr>
            </a:pPr>
            <a:r>
              <a:t>## Technical &amp; Incident Assessment</a:t>
            </a:r>
            <a:br/>
            <a:br/>
            <a:r>
              <a:t>Problem clarification:</a:t>
            </a:r>
            <a:br/>
            <a:r>
              <a:t>  Missing trunk CLI is reported on a second</a:t>
            </a:r>
            <a:br/>
            <a:r>
              <a:t>  unpark; scope and reproducibility are not</a:t>
            </a:r>
            <a:br/>
            <a:r>
              <a:t>  established by the available record.</a:t>
            </a:r>
            <a:br/>
            <a:r>
              <a:t>Findings:</a:t>
            </a:r>
            <a:br/>
            <a:r>
              <a:t>  A JTAPI null is recorded; synchronized CM and JTAPI traces are absent.</a:t>
            </a:r>
            <a:br/>
            <a:br/>
            <a:r>
              <a:t>Cause state — Under Investigation:</a:t>
            </a:r>
            <a:br/>
            <a:r>
              <a:t>  CM configuration is a working hypothesis;</a:t>
            </a:r>
            <a:br/>
            <a:r>
              <a:t>  other paths remain open pending evidence.</a:t>
            </a:r>
            <a:br/>
            <a:br/>
            <a:r>
              <a:t>Validation state:</a:t>
            </a:r>
            <a:br/>
            <a:r>
              <a:t>  No change or customer-confirmed outcome is evidenced.</a:t>
            </a:r>
          </a:p>
        </p:txBody>
      </p:sp>
    </p:spTree>
    <p:extLst>
      <p:ext uri="{BB962C8B-B14F-4D97-AF65-F5344CB8AC3E}">
        <p14:creationId xmlns:p14="http://schemas.microsoft.com/office/powerpoint/2010/main" val="945111461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048DC5F2-0C05-41BF-B1F9-F660CF5C7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Evidence-Grounded Vendor Handoff Review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DA19E535-5996-419E-989C-6ADC0A0C7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7DBCBFD2-17EF-475A-8F0F-D05CCCE95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728655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5B2CCC26-72C3-49A6-B5A5-8D168FCD7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10362895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Vendor Handoff Reference Matrix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CM / AES core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[BBE PEA]</a:t>
            </a:r>
            <a:r>
              <a:rPr b="0">
                <a:solidFill>
                  <a:srgbClr val="0F172A"/>
                </a:solidFill>
              </a:rPr>
              <a:t>  (CM ASAI, AES service crash, crossID exhaustion, CTI link state)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POM / AEP product-code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[CPE PEA]</a:t>
            </a:r>
            <a:r>
              <a:rPr b="0">
                <a:solidFill>
                  <a:srgbClr val="0F172A"/>
                </a:solidFill>
              </a:rPr>
              <a:t>  (POM campaign engine, AEP application server, REST driver)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Verint / WFO / RIS / WebLogic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[Verint Support Ticket]</a:t>
            </a:r>
            <a:r>
              <a:rPr b="0">
                <a:solidFill>
                  <a:srgbClr val="0F172A"/>
                </a:solidFill>
              </a:rPr>
              <a:t>  (ACRA recording failure, RIS connection, DMSA, WebLogic heap)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Nuance MRCP / ASR / TTS defect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[Nuance Support Ticket]</a:t>
            </a:r>
            <a:r>
              <a:rPr b="0">
                <a:solidFill>
                  <a:srgbClr val="0F172A"/>
                </a:solidFill>
              </a:rPr>
              <a:t>  (Speech recognition grammar errors, MRCP v2 connection timeout)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300" b="1">
                <a:solidFill>
                  <a:srgbClr val="1E3E62"/>
                </a:solidFill>
              </a:defRPr>
            </a:pPr>
            <a:r>
              <a:t>🎯 </a:t>
            </a:r>
            <a:r>
              <a:t>Evidence-confirmed customer infrastructure condition — reference destination:</a:t>
            </a:r>
            <a:r>
              <a:t> ➔ </a:t>
            </a:r>
            <a:r>
              <a:rPr b="1">
                <a:solidFill>
                  <a:srgbClr val="E63946"/>
                </a:solidFill>
              </a:rPr>
              <a:t>[Customer / MSP Action]</a:t>
            </a:r>
            <a:r>
              <a:rPr b="0">
                <a:solidFill>
                  <a:srgbClr val="0F172A"/>
                </a:solidFill>
              </a:rPr>
              <a:t>  (LDAP auth, SQL database, network firewall ports, network jitter)</a:t>
            </a:r>
          </a:p>
          <a:p xmlns:a="http://schemas.openxmlformats.org/drawingml/2006/main">
            <a:pPr>
              <a:spcBef>
                <a:spcPts val="1000"/>
              </a:spcBef>
              <a:buNone/>
              <a:defRPr sz="1300" b="1">
                <a:solidFill>
                  <a:srgbClr val="E63946"/>
                </a:solidFill>
              </a:defRPr>
            </a:pPr>
            <a:r>
              <a:t>🔴 </a:t>
            </a:r>
            <a:r>
              <a:t>Reference only after the failing component is evidenced. The manager retains ownership and risk judgment; this matrix does not assign a vendor.</a:t>
            </a:r>
          </a:p>
        </p:txBody>
      </p:sp>
    </p:spTree>
    <p:extLst>
      <p:ext uri="{BB962C8B-B14F-4D97-AF65-F5344CB8AC3E}">
        <p14:creationId xmlns:p14="http://schemas.microsoft.com/office/powerpoint/2010/main" val="2100812788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027D522-9F8D-41BD-AA60-A5386CA381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Standardized Executive Review Report Structure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B267E64-3BD5-4243-9C8E-E3F05B1543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213CE156-6B62-45CB-8283-B3A8ACF214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ED46983-7C8A-4A6E-B260-258FCB3AD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1. 6-8 Sentence Executive Summary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One conclusion-level paragraph: incident, impact, response, RCA state, mitigation, status, and next checkpoint.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B33F7DB1-A5AB-4A2C-97E8-B3A355D9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28016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A1C8242-5799-4FBD-9E43-A6D987042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135331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2. Technical &amp; Incident Assessment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Reasoning, findings, validation state, and unresolved gaps without repeating the summary.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BFE1E2F0-08F8-457E-9ADC-1E872C513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4C704486-8AE5-45BF-80E2-5224FEAF9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3. Progress Summary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Substantive progress and validation outcomes across available sources.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BC075C4-0EB8-430D-8BD2-EA536DBA2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228600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6DF9AD73-C5D2-4BA0-99BA-639B3AD2E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235915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4. Ownership &amp; Next Step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Evidence-stated assignee, last action, next action, owner, and due date.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783D44F8-A671-494C-B9CE-D8A3D3E71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2BDDCDD-4CCB-4441-8E54-FA2323016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5. Timeline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Dated substantive events, oldest to newest; undated events follow.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52BBB86-E58B-4D20-B58F-2E77406B63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3291840"/>
            <a:ext cx="5120640" cy="868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1C2A257-20B3-4BFF-B2DC-281B572CDD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46520" y="3364992"/>
            <a:ext cx="48463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buNone/>
              <a:defRPr sz="1300" b="1">
                <a:solidFill>
                  <a:srgbClr val="0B192C"/>
                </a:solidFill>
              </a:defRPr>
            </a:pPr>
            <a:r>
              <a:t>6. Appendix A — Evidence Register</a:t>
            </a:r>
          </a:p>
          <a:p xmlns:a="http://schemas.openxmlformats.org/drawingml/2006/main">
            <a:pPr>
              <a:buNone/>
              <a:defRPr sz="1000">
                <a:solidFill>
                  <a:srgbClr val="475569"/>
                </a:solidFill>
              </a:defRPr>
            </a:pPr>
            <a:r>
              <a:t>Final reverse-mapped evidence table; no inline citations.</a:t>
            </a:r>
          </a:p>
        </p:txBody>
      </p:sp>
    </p:spTree>
    <p:extLst>
      <p:ext uri="{BB962C8B-B14F-4D97-AF65-F5344CB8AC3E}">
        <p14:creationId xmlns:p14="http://schemas.microsoft.com/office/powerpoint/2010/main" val="1067083978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3385A596-B50C-424B-8DFF-A5EB6A579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Manager Onboarding &amp; Deployment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1DE4DF7A-5B6A-4806-BCE1-7EF24FF2B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824A0ADD-090F-45A2-9EC8-22C49DBA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12064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D14E70B3-D809-4525-B84C-AF96E72D3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63040"/>
            <a:ext cx="475488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Automated Setup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Run setup_env.ps1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setup_env.ps1 deploys the skills, CaseToMD, Gmail MCP, and the Managed Edge broker.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</a:t>
            </a:r>
            <a:r>
              <a:t>Conditional Managed Edge Sign-In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Run gmail_brokerctl.py login only when gmail_brokerctl.py status reports authentication required.</a:t>
            </a:r>
          </a:p>
          <a:p xmlns:a="http://schemas.openxmlformats.org/drawingml/2006/main">
            <a:pPr>
              <a:buNone/>
              <a:defRPr sz="1400" b="1">
                <a:solidFill>
                  <a:srgbClr val="1E3E62"/>
                </a:solidFill>
              </a:defRPr>
            </a:pPr>
            <a:r>
              <a:t>🚀 Restart Antigravity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200">
                <a:solidFill>
                  <a:srgbClr val="0F172A"/>
                </a:solidFill>
              </a:defRPr>
            </a:pPr>
            <a:r>
              <a:t>Restart so the desktop app loads the deployed case-review and Gmail capability.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22F255AF-9686-4E77-B3CA-7B81F1589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6480" y="1280160"/>
            <a:ext cx="5303520" cy="5120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CA0413-098D-42B9-8162-7DEB418CC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1463040"/>
            <a:ext cx="4937760" cy="4754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400"/>
              </a:spcAft>
              <a:buNone/>
              <a:defRPr sz="2000" b="1">
                <a:solidFill>
                  <a:srgbClr val="0B192C"/>
                </a:solidFill>
              </a:defRPr>
            </a:pPr>
            <a:r>
              <a:t>Complete Documentation Package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MANAGER_ONBOARDING_GUIDE.html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Support Manager setup, VPN requirements, example review prompts, and troubleshooting.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ANTIGRAVITY_INSTALLATION_GUIDE.html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Windows desktop installation and Managed Edge sign-in guidance.</a:t>
            </a:r>
          </a:p>
          <a:p xmlns:a="http://schemas.openxmlformats.org/drawingml/2006/main">
            <a:pPr>
              <a:buNone/>
              <a:defRPr sz="1300" b="1">
                <a:solidFill>
                  <a:srgbClr val="E63946"/>
                </a:solidFill>
              </a:defRPr>
            </a:pPr>
            <a:r>
              <a:t>📄 README.html / .md</a:t>
            </a:r>
          </a:p>
          <a:p xmlns:a="http://schemas.openxmlformats.org/drawingml/2006/main">
            <a:pPr>
              <a:spcAft>
                <a:spcPts val="1200"/>
              </a:spcAft>
              <a:buNone/>
              <a:defRPr sz="1100">
                <a:solidFill>
                  <a:srgbClr val="0F172A"/>
                </a:solidFill>
              </a:defRPr>
            </a:pPr>
            <a:r>
              <a:t>Package contents, workflow overview, and execution instructions.</a:t>
            </a:r>
          </a:p>
        </p:txBody>
      </p:sp>
    </p:spTree>
    <p:extLst>
      <p:ext uri="{BB962C8B-B14F-4D97-AF65-F5344CB8AC3E}">
        <p14:creationId xmlns:p14="http://schemas.microsoft.com/office/powerpoint/2010/main" val="297955742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1D456B1C-A66F-4EC5-8EF9-A51207976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10058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wrap="square" lIns="731520" tIns="182880" anchor="ctr"/>
          <a:lstStyle xmlns:a="http://schemas.openxmlformats.org/drawingml/2006/main"/>
          <a:p xmlns:a="http://schemas.openxmlformats.org/drawingml/2006/main">
            <a:pPr algn="ctr">
              <a:buNone/>
              <a:defRPr sz="1000" b="1">
                <a:solidFill>
                  <a:srgbClr val="E63946"/>
                </a:solidFill>
                <a:latin typeface="Arial"/>
                <a:ea typeface="Arial"/>
                <a:cs typeface="Arial"/>
              </a:defRPr>
            </a:pPr>
            <a:r>
              <a:t>AVAYA CASE REVIEW SUITE</a:t>
            </a:r>
          </a:p>
          <a:p xmlns:a="http://schemas.openxmlformats.org/drawingml/2006/main">
            <a:pPr>
              <a:buNone/>
              <a:defRPr sz="22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t>Operational Capabilities &amp; Key Takeaways for Management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01D576D1-5A9A-4E5B-8876-8D9449D15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1695" cy="7315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63946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4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C2C366D9-CE03-4D73-BA2A-FA0833C92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29B6A0E4-01F3-4136-A779-06EB22558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Faster Preparation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Brings retrieved case and email evidence into one structured review with less source switching.</a:t>
            </a:r>
          </a:p>
        </p:txBody>
      </p:sp>
      <p:sp>
        <p:nvSpPr>
          <p:cNvPr id="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58BF7AF0-2E97-4B57-B0EA-0EA2FECD4E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25696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323F306-1BF6-4C2A-B13A-B3E194CCB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62856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Evidence Traceability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Maps conclusions to a final evidence register so the supporting source record can be inspected.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FA1030A6-BD74-46FF-8E62-92F8E538B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9872" y="1280160"/>
            <a:ext cx="3328416" cy="201168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0B192C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6992EA5-27A4-4B68-AFEB-D0C0A0AE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57032" y="1417320"/>
            <a:ext cx="3054096" cy="17373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 algn="ctr">
              <a:spcAft>
                <a:spcPts val="800"/>
              </a:spcAft>
              <a:buNone/>
              <a:defRPr sz="2200" b="1">
                <a:solidFill>
                  <a:srgbClr val="E63946"/>
                </a:solidFill>
              </a:defRPr>
            </a:pPr>
            <a:r>
              <a:t>Earlier Escalation Signals</a:t>
            </a:r>
          </a:p>
          <a:p xmlns:a="http://schemas.openxmlformats.org/drawingml/2006/main">
            <a:pPr algn="ctr">
              <a:buNone/>
              <a:defRPr sz="1200">
                <a:solidFill>
                  <a:srgbClr val="FFFFFF"/>
                </a:solidFill>
              </a:defRPr>
            </a:pPr>
            <a:r>
              <a:t>Surfaces dated ownership, dispatch, staleness, and source-gap signals without claiming a resolution outcome.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819354E3-7DAB-46EF-AEFE-FE09E20692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566160"/>
            <a:ext cx="10728655" cy="2834640"/>
          </a:xfrm>
          <a:prstGeom xmlns:a="http://schemas.openxmlformats.org/drawingml/2006/main" prst="roundRect">
            <a:avLst/>
          </a:prstGeom>
          <a:solidFill xmlns:a="http://schemas.openxmlformats.org/drawingml/2006/main">
            <a:srgbClr val="F8FAFC"/>
          </a:solidFill>
          <a:ln xmlns:a="http://schemas.openxmlformats.org/drawingml/2006/main" w="19050">
            <a:solidFill>
              <a:srgbClr val="E2E8F0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E3F0AAE-1189-4D30-862F-031AF36EA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49039"/>
            <a:ext cx="10362895" cy="2468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>
            <a:spAutoFit/>
          </a:bodyPr>
          <a:lstStyle xmlns:a="http://schemas.openxmlformats.org/drawingml/2006/main"/>
          <a:p xmlns:a="http://schemas.openxmlformats.org/drawingml/2006/main">
            <a:pPr>
              <a:spcAft>
                <a:spcPts val="1000"/>
              </a:spcAft>
              <a:buNone/>
              <a:defRPr sz="1800" b="1">
                <a:solidFill>
                  <a:srgbClr val="0B192C"/>
                </a:solidFill>
              </a:defRPr>
            </a:pPr>
            <a:r>
              <a:t>Use in Practice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setup_env.ps1 deploys the pack to each manager workstation.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MANAGER_ONBOARDING_GUIDE.html covers sign-in, review prompts, and troubleshooting.</a:t>
            </a:r>
          </a:p>
          <a:p xmlns:a="http://schemas.openxmlformats.org/drawingml/2006/main">
            <a:pPr>
              <a:spcAft>
                <a:spcPts val="800"/>
              </a:spcAft>
              <a:buNone/>
              <a:defRPr sz="1300">
                <a:solidFill>
                  <a:srgbClr val="0F172A"/>
                </a:solidFill>
              </a:defRPr>
            </a:pPr>
            <a:r>
              <a:t>Technical feedback can expand the domain references while the evidence gate remains unchanged.</a:t>
            </a:r>
          </a:p>
        </p:txBody>
      </p:sp>
    </p:spTree>
    <p:extLst>
      <p:ext uri="{BB962C8B-B14F-4D97-AF65-F5344CB8AC3E}">
        <p14:creationId xmlns:p14="http://schemas.microsoft.com/office/powerpoint/2010/main" val="98555367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2026-08-05T03:54:42.5310000Z</dcterms:created>
  <dcterms:modified xsi:type="dcterms:W3CDTF">2026-08-05T03:54:42.5310000Z</dcterms:modified>
</coreProperties>
</file>