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304ddf71d54f86" /><Relationship Type="http://schemas.openxmlformats.org/officeDocument/2006/relationships/extended-properties" Target="/docProps/app.xml" Id="R1788f8bb60394485" /><Relationship Type="http://schemas.openxmlformats.org/officeDocument/2006/relationships/officeDocument" Target="/ppt/presentation.xml" Id="Raaab0f8548bc4e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c69b6e2bd845f8"/>
  </p:sldMasterIdLst>
  <p:notesMasterIdLst>
    <p:notesMasterId xmlns:r="http://schemas.openxmlformats.org/officeDocument/2006/relationships" r:id="R260621a8bfdc4d80"/>
  </p:notesMasterIdLst>
  <p:sldIdLst>
    <p:sldId xmlns:r="http://schemas.openxmlformats.org/officeDocument/2006/relationships" id="256" r:id="Rcabcb3f7084b4590"/>
    <p:sldId xmlns:r="http://schemas.openxmlformats.org/officeDocument/2006/relationships" id="257" r:id="R5358ed39e3884c9b"/>
    <p:sldId xmlns:r="http://schemas.openxmlformats.org/officeDocument/2006/relationships" id="258" r:id="R8e08df4f0dea4924"/>
    <p:sldId xmlns:r="http://schemas.openxmlformats.org/officeDocument/2006/relationships" id="259" r:id="R5b2e44b1dc3b4063"/>
    <p:sldId xmlns:r="http://schemas.openxmlformats.org/officeDocument/2006/relationships" id="260" r:id="R8cd722ede72a4f6d"/>
    <p:sldId xmlns:r="http://schemas.openxmlformats.org/officeDocument/2006/relationships" id="261" r:id="R080bf5c15ff34780"/>
    <p:sldId xmlns:r="http://schemas.openxmlformats.org/officeDocument/2006/relationships" id="262" r:id="R53a0e5e112634e53"/>
    <p:sldId xmlns:r="http://schemas.openxmlformats.org/officeDocument/2006/relationships" id="263" r:id="Ra898d7f70421423b"/>
    <p:sldId xmlns:r="http://schemas.openxmlformats.org/officeDocument/2006/relationships" id="264" r:id="Rdd918f38946e4012"/>
    <p:sldId xmlns:r="http://schemas.openxmlformats.org/officeDocument/2006/relationships" id="265" r:id="R2c41f498a8554c7f"/>
    <p:sldId xmlns:r="http://schemas.openxmlformats.org/officeDocument/2006/relationships" id="266" r:id="R21d53e2f70274db6"/>
    <p:sldId xmlns:r="http://schemas.openxmlformats.org/officeDocument/2006/relationships" id="267" r:id="R15037c2c1b8647c9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8143b2f574bf9" /><Relationship Type="http://schemas.openxmlformats.org/officeDocument/2006/relationships/slideMaster" Target="/ppt/slideMasters/slideMaster1.xml" Id="Rd9c69b6e2bd845f8" /><Relationship Type="http://schemas.openxmlformats.org/officeDocument/2006/relationships/notesMaster" Target="/ppt/notesMasters/notesMaster1.xml" Id="R260621a8bfdc4d80" /><Relationship Type="http://schemas.openxmlformats.org/officeDocument/2006/relationships/presProps" Target="/ppt/presProps.xml" Id="R55a8e5a51e5e4aec" /><Relationship Type="http://schemas.openxmlformats.org/officeDocument/2006/relationships/viewProps" Target="/ppt/viewProps.xml" Id="Rd88ffb6cb77d4289" /><Relationship Type="http://schemas.openxmlformats.org/officeDocument/2006/relationships/tableStyles" Target="/ppt/tableStyles.xml" Id="R6d1565bbde774a1d" /><Relationship Type="http://schemas.openxmlformats.org/officeDocument/2006/relationships/slide" Target="/ppt/slides/slide1.xml" Id="Rcabcb3f7084b4590" /><Relationship Type="http://schemas.openxmlformats.org/officeDocument/2006/relationships/slide" Target="/ppt/slides/slide2.xml" Id="R5358ed39e3884c9b" /><Relationship Type="http://schemas.openxmlformats.org/officeDocument/2006/relationships/slide" Target="/ppt/slides/slide3.xml" Id="R8e08df4f0dea4924" /><Relationship Type="http://schemas.openxmlformats.org/officeDocument/2006/relationships/slide" Target="/ppt/slides/slide4.xml" Id="R5b2e44b1dc3b4063" /><Relationship Type="http://schemas.openxmlformats.org/officeDocument/2006/relationships/slide" Target="/ppt/slides/slide5.xml" Id="R8cd722ede72a4f6d" /><Relationship Type="http://schemas.openxmlformats.org/officeDocument/2006/relationships/slide" Target="/ppt/slides/slide6.xml" Id="R080bf5c15ff34780" /><Relationship Type="http://schemas.openxmlformats.org/officeDocument/2006/relationships/slide" Target="/ppt/slides/slide7.xml" Id="R53a0e5e112634e53" /><Relationship Type="http://schemas.openxmlformats.org/officeDocument/2006/relationships/slide" Target="/ppt/slides/slide8.xml" Id="Ra898d7f70421423b" /><Relationship Type="http://schemas.openxmlformats.org/officeDocument/2006/relationships/slide" Target="/ppt/slides/slide9.xml" Id="Rdd918f38946e4012" /><Relationship Type="http://schemas.openxmlformats.org/officeDocument/2006/relationships/slide" Target="/ppt/slides/slide10.xml" Id="R2c41f498a8554c7f" /><Relationship Type="http://schemas.openxmlformats.org/officeDocument/2006/relationships/slide" Target="/ppt/slides/slide11.xml" Id="R21d53e2f70274db6" /><Relationship Type="http://schemas.openxmlformats.org/officeDocument/2006/relationships/slide" Target="/ppt/slides/slide12.xml" Id="R15037c2c1b8647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c2bcf1e0564c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3bd77a02f14e70" /><Relationship Type="http://schemas.openxmlformats.org/officeDocument/2006/relationships/notesMaster" Target="/ppt/notesMasters/notesMaster1.xml" Id="R3026db2c039b43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362dd71dd847f7" /><Relationship Type="http://schemas.openxmlformats.org/officeDocument/2006/relationships/notesMaster" Target="/ppt/notesMasters/notesMaster1.xml" Id="R1924bb0a38064c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384d08518244c3" /><Relationship Type="http://schemas.openxmlformats.org/officeDocument/2006/relationships/notesMaster" Target="/ppt/notesMasters/notesMaster1.xml" Id="Rf72bc8ed24204b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c032d961534c6a" /><Relationship Type="http://schemas.openxmlformats.org/officeDocument/2006/relationships/notesMaster" Target="/ppt/notesMasters/notesMaster1.xml" Id="Rca595569d12e43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8af87ef3f0441d" /><Relationship Type="http://schemas.openxmlformats.org/officeDocument/2006/relationships/notesMaster" Target="/ppt/notesMasters/notesMaster1.xml" Id="Rcd7031dc707b4d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c12a114c364d0c" /><Relationship Type="http://schemas.openxmlformats.org/officeDocument/2006/relationships/notesMaster" Target="/ppt/notesMasters/notesMaster1.xml" Id="Rbdf974d9bb5d4b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5ef609c60f4818" /><Relationship Type="http://schemas.openxmlformats.org/officeDocument/2006/relationships/notesMaster" Target="/ppt/notesMasters/notesMaster1.xml" Id="R937233eab29843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3f514301554319" /><Relationship Type="http://schemas.openxmlformats.org/officeDocument/2006/relationships/notesMaster" Target="/ppt/notesMasters/notesMaster1.xml" Id="R249da66f70a846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0fd959aab74379" /><Relationship Type="http://schemas.openxmlformats.org/officeDocument/2006/relationships/notesMaster" Target="/ppt/notesMasters/notesMaster1.xml" Id="Rcdbf2da06d6c47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e3e9b4d7694993" /><Relationship Type="http://schemas.openxmlformats.org/officeDocument/2006/relationships/notesMaster" Target="/ppt/notesMasters/notesMaster1.xml" Id="Rbf9d416ec4164e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3fb9e9ffd74bfa" /><Relationship Type="http://schemas.openxmlformats.org/officeDocument/2006/relationships/notesMaster" Target="/ppt/notesMasters/notesMaster1.xml" Id="R4f6fefec059446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08d49d507a4954" /><Relationship Type="http://schemas.openxmlformats.org/officeDocument/2006/relationships/notesMaster" Target="/ppt/notesMasters/notesMaster1.xml" Id="R256fec97272042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dc63b7a8344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e6155c1fb34b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d60c0fac5943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44333d38b43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11710cda844e2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5a1ff3df448b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780a1d57a446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b1fa31657455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8069a124e640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195baf8bf04d8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9976e8315a40e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5D9160-7D7F-49A3-AAE0-CD3A46BAB8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84F77C-17A0-4966-8948-72A451C580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BFC812-41E8-47F5-82D1-352F9EB26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6BC2FB-5594-487C-8F01-93690F3D9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C374F6-09A2-465E-86C8-885A43B179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F19618-E14D-4C6A-B023-76E3355369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B9FF84-7E58-4C7A-AE08-5780540A525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1AD476-E0DB-4C45-8132-EE33B4ED2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50BE52-8174-4392-BEFC-44C4A2AE43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41C8E4-EBD8-4E58-958D-F3694B3E0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B02ED-57DD-44FD-BC77-4A49D1E228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F59F7C-F443-4F33-BFD5-37C0D229D6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8C332F-2E2C-4639-BBED-45325A7B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40D806-505D-4877-8D8F-CDCA280F52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403BC9-2565-4A69-9F98-5D54F88DC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D51C14-EF6A-4509-B463-CD0147F94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3302BA9-C542-4697-AB47-D6E668EE27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91B85B-D909-4FC2-8E46-0073D64583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C7E8AFE-0DD4-4FC1-8C7F-5510195CCD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21D8541-95B4-45A8-BD0D-9E2D27224F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DD4B66-85CA-4B8F-9B67-D078138BB2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9E42B-0E84-4CDC-AA32-9C56DC138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195102-ADC2-404F-8611-5E041AFFCA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99B902-D0C4-48EA-B8EC-083F87D072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CF5C99-2E52-4561-B006-2BF1326313F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622A8F0-2A52-4BFC-9693-A96EB08EFA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FFD9B5-FED3-41FF-8A64-A5FEF2AFEF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16A1229-7C0A-4926-A0B9-B4764F4B70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C879D91-2CF1-4BC2-B38E-8E4D051B8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ADCB8B-723F-4DB6-87EF-2415F6202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A45297E-E6D6-4CB7-8686-7AE26FA7C8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8416223-4682-4505-BEF2-668992B140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691846-42CA-4223-A94C-4399636B51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4D190BD-0443-4A96-84AA-7D922549EF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7DA351-3EA9-4ABC-A7B6-E713365040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9DBEAE-EEE3-4682-9482-9652E1D13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7463FC-4965-4EB2-AC69-9CBBE9BFF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3FB3E5-DE9C-4ADA-BD87-990FBBFA8B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B86EAE9-1E04-4F33-A617-CD3A0BABEB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BDAA4C-F3FD-45F5-96A0-E30EE14FB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E6312B-0A2A-4DCA-87CA-5D451B2DED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7E6AD51-F9E6-4AEF-B80B-473EFE0535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D26606-B682-4F1F-A536-BFC598165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88FAF4-23EF-47D1-8FC9-EB770CA0A0C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B8FE66-49E3-4F8E-B277-23B5896156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BE9D61-DB6D-41BC-B06B-1E7F8374E0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9235939-328E-42F2-909C-2922958815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BFCDAA-C0C9-400D-9D4E-5F728A2BF7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47DA8-DA01-4476-AEAD-6F23FCB54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4E9A55-D701-474A-90C3-8450875EDD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01E95D-A000-4507-B863-88A667F22C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97BA70-31E3-4DBD-AABE-90A009561E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BB32A1-F101-4E1C-8290-A238A0B78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199625B-B950-492B-87B9-DDFD24521E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AC8DAB7-F452-4BC4-8066-63555CA698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783900-F68A-4648-A36D-31B5DCE2C4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03F017-B77C-4F40-AD07-AA4497D2F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67D57E-B660-4840-87E5-108E2C1D1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b3e8cfc06249d2" /><Relationship Type="http://schemas.openxmlformats.org/officeDocument/2006/relationships/slideLayout" Target="/ppt/slideLayouts/slideLayout1.xml" Id="Rbf5bf2d33dec4a2f" /><Relationship Type="http://schemas.openxmlformats.org/officeDocument/2006/relationships/slideLayout" Target="/ppt/slideLayouts/slideLayout2.xml" Id="R6ca3a2642fd34a6b" /><Relationship Type="http://schemas.openxmlformats.org/officeDocument/2006/relationships/slideLayout" Target="/ppt/slideLayouts/slideLayout3.xml" Id="Rd46bc6b2c8c24a05" /><Relationship Type="http://schemas.openxmlformats.org/officeDocument/2006/relationships/slideLayout" Target="/ppt/slideLayouts/slideLayout4.xml" Id="R4b715a46b0bb495c" /><Relationship Type="http://schemas.openxmlformats.org/officeDocument/2006/relationships/slideLayout" Target="/ppt/slideLayouts/slideLayout5.xml" Id="R6afc908667524103" /><Relationship Type="http://schemas.openxmlformats.org/officeDocument/2006/relationships/slideLayout" Target="/ppt/slideLayouts/slideLayout6.xml" Id="Rdc47a08e668948c9" /><Relationship Type="http://schemas.openxmlformats.org/officeDocument/2006/relationships/slideLayout" Target="/ppt/slideLayouts/slideLayout7.xml" Id="Rf08dd2bf584843d1" /><Relationship Type="http://schemas.openxmlformats.org/officeDocument/2006/relationships/slideLayout" Target="/ppt/slideLayouts/slideLayout8.xml" Id="R336734b83195429e" /><Relationship Type="http://schemas.openxmlformats.org/officeDocument/2006/relationships/slideLayout" Target="/ppt/slideLayouts/slideLayout9.xml" Id="R4ed610843a8e4a4d" /><Relationship Type="http://schemas.openxmlformats.org/officeDocument/2006/relationships/slideLayout" Target="/ppt/slideLayouts/slideLayout10.xml" Id="R0fa85e1d59fe45cc" /><Relationship Type="http://schemas.openxmlformats.org/officeDocument/2006/relationships/slideLayout" Target="/ppt/slideLayouts/slideLayout11.xml" Id="Rb768ba98cc6245a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A1536F9-0FC2-4558-822F-C633222E6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0F147D-07A8-405E-A771-320D73AF6E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F152F5-C7F1-4420-974F-88F140F852E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234B17-0CFE-4FD0-A5BA-DE4DED237F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BD9DEC-F858-497F-9EC9-6AE6ADCE6E6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5bf2d33dec4a2f"/>
    <p:sldLayoutId xmlns:r="http://schemas.openxmlformats.org/officeDocument/2006/relationships" id="2147483650" r:id="R6ca3a2642fd34a6b"/>
    <p:sldLayoutId xmlns:r="http://schemas.openxmlformats.org/officeDocument/2006/relationships" id="2147483651" r:id="Rd46bc6b2c8c24a05"/>
    <p:sldLayoutId xmlns:r="http://schemas.openxmlformats.org/officeDocument/2006/relationships" id="2147483652" r:id="R4b715a46b0bb495c"/>
    <p:sldLayoutId xmlns:r="http://schemas.openxmlformats.org/officeDocument/2006/relationships" id="2147483653" r:id="R6afc908667524103"/>
    <p:sldLayoutId xmlns:r="http://schemas.openxmlformats.org/officeDocument/2006/relationships" id="2147483654" r:id="Rdc47a08e668948c9"/>
    <p:sldLayoutId xmlns:r="http://schemas.openxmlformats.org/officeDocument/2006/relationships" id="2147483655" r:id="Rf08dd2bf584843d1"/>
    <p:sldLayoutId xmlns:r="http://schemas.openxmlformats.org/officeDocument/2006/relationships" id="2147483656" r:id="R336734b83195429e"/>
    <p:sldLayoutId xmlns:r="http://schemas.openxmlformats.org/officeDocument/2006/relationships" id="2147483657" r:id="R4ed610843a8e4a4d"/>
    <p:sldLayoutId xmlns:r="http://schemas.openxmlformats.org/officeDocument/2006/relationships" id="2147483658" r:id="R0fa85e1d59fe45cc"/>
    <p:sldLayoutId xmlns:r="http://schemas.openxmlformats.org/officeDocument/2006/relationships" id="2147483659" r:id="Rb768ba98cc6245a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2fdef238c1443f" /><Relationship Type="http://schemas.openxmlformats.org/officeDocument/2006/relationships/notesSlide" Target="/ppt/notesSlides/notesSlide1.xml" Id="R9c64b9468fe642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ecc3379f644a0d" /><Relationship Type="http://schemas.openxmlformats.org/officeDocument/2006/relationships/notesSlide" Target="/ppt/notesSlides/notesSlide2.xml" Id="R95aa8b9843ea46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b1dbaa213041f7" /><Relationship Type="http://schemas.openxmlformats.org/officeDocument/2006/relationships/notesSlide" Target="/ppt/notesSlides/notesSlide3.xml" Id="R5881dc8e69ef43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787fe1301d4661" /><Relationship Type="http://schemas.openxmlformats.org/officeDocument/2006/relationships/notesSlide" Target="/ppt/notesSlides/notesSlide4.xml" Id="R4b8f8c67b59f40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823fad969b4f30" /><Relationship Type="http://schemas.openxmlformats.org/officeDocument/2006/relationships/notesSlide" Target="/ppt/notesSlides/notesSlide5.xml" Id="R6aa78a14f85b48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dc7bb4afc04ac6" /><Relationship Type="http://schemas.openxmlformats.org/officeDocument/2006/relationships/notesSlide" Target="/ppt/notesSlides/notesSlide6.xml" Id="R21c367c33b9f4d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20bbb759374c3f" /><Relationship Type="http://schemas.openxmlformats.org/officeDocument/2006/relationships/notesSlide" Target="/ppt/notesSlides/notesSlide7.xml" Id="R1eeae8593f7141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6c8c602aea4cea" /><Relationship Type="http://schemas.openxmlformats.org/officeDocument/2006/relationships/notesSlide" Target="/ppt/notesSlides/notesSlide8.xml" Id="Rf897c0c7d24642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3fc144063e46a0" /><Relationship Type="http://schemas.openxmlformats.org/officeDocument/2006/relationships/notesSlide" Target="/ppt/notesSlides/notesSlide9.xml" Id="Rb39a65d7950444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7eacaaece047a8" /><Relationship Type="http://schemas.openxmlformats.org/officeDocument/2006/relationships/notesSlide" Target="/ppt/notesSlides/notesSlide10.xml" Id="R70a7e1e82c654d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715c924a8544e9" /><Relationship Type="http://schemas.openxmlformats.org/officeDocument/2006/relationships/notesSlide" Target="/ppt/notesSlides/notesSlide11.xml" Id="R7b7de200417b43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8643773ce94030" /><Relationship Type="http://schemas.openxmlformats.org/officeDocument/2006/relationships/notesSlide" Target="/ppt/notesSlides/notesSlide12.xml" Id="R826fddd1d24e45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9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9EE525-FD0F-450D-ACF6-DA00124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3716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139AF2-B6C2-4F87-9A78-400F1A5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1069848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spcAft>
                <a:spcPts val="2000"/>
              </a:spcAft>
              <a:buNone/>
              <a:defRPr sz="36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&amp; Intelligent Diagnostic Engine</a:t>
            </a:r>
          </a:p>
          <a:p xmlns:a="http://schemas.openxmlformats.org/drawingml/2006/main">
            <a:pPr>
              <a:spcAft>
                <a:spcPts val="3000"/>
              </a:spcAft>
              <a:buNone/>
              <a:defRPr sz="180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t>AI-Powered Case Governance, Off-System Email Synthesis &amp; Evidence-Grounded Technical Assessment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Designed for Support Managers, Operations Leads, SDMs &amp; Technical Escalation Managers</a:t>
            </a:r>
          </a:p>
        </p:txBody>
      </p:sp>
    </p:spTree>
    <p:extLst>
      <p:ext uri="{BB962C8B-B14F-4D97-AF65-F5344CB8AC3E}">
        <p14:creationId xmlns:p14="http://schemas.microsoft.com/office/powerpoint/2010/main" val="808711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E35B2D1-12AD-442B-BAD5-29641561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The Governance Challenge: Fragmented Evidence &amp; Technical Uncertainty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F11237-904D-4F4A-A3F8-1686E3F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5867128-4D9C-42CD-87C9-DD3FABF5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3CAAB4-CD64-4D99-B644-464420A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1. Invisible Off-System Email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Customer commitments and SDM updates may sit in Gmail threads outside Siebel or ServiceNow.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OCD dispatch alerts, including 'UNASSIGNABLE' tasks, may be visible only in inbox notifications.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one evidence view spanning formal case notes and case-bounded email.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F385809-759E-48C2-B3A7-BD6C5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8CE03A-7C16-4EF9-9DC0-1516C6E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2. Technical Direction Uncertainty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Retrieved evidence may support competing hypotheses that require targeted validation.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Product references guide validation but do not prove cause; ownership stays unresolved until the failing component is evidenced.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Missing logs or incomplete validation can delay a supported conclusion.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21003AF-B455-4807-83F3-45C824E6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AFF75C-D97F-4FED-8AFD-8E7991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3. Management Overload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Long Siebel SR and ServiceNow INC histories can obscure substantive progress.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Case freshness and unassigned next steps are difficult to track across large queues.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a concise conclusion and a traceable path back to the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9071520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B10B42B-EF92-4DD7-8918-6B4E162A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Strategic Solution: Evidence-Grounded Case Review Suite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3D0E9F-F585-4F5E-A3EC-929604AA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6CBB957-39F3-4209-9D54-D13F5620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3C0CC3-CF45-4AC3-A4C0-72C4CCA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54480"/>
            <a:ext cx="457200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600"/>
              </a:spcAft>
              <a:buNone/>
              <a:defRPr sz="2200" b="1">
                <a:solidFill>
                  <a:srgbClr val="FFFFFF"/>
                </a:solidFill>
              </a:defRPr>
            </a:pPr>
            <a:r>
              <a:t>The Avaya Case Review Suite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⚡ </a:t>
            </a:r>
            <a:r>
              <a:t>Structured Executive Review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Combines retrieved case and email evidence into the six-section management brief.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📧 </a:t>
            </a:r>
            <a:r>
              <a:t>Case-Bounded Email Evidence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The Managed Edge broker searches case and task identifiers; retrieved messages extend the evidence set.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🧠 </a:t>
            </a:r>
            <a:r>
              <a:t>Embedded 10-Domain Reference Suite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Product references suggest evidence-triggered checks and reference destinations; they do not prove cause.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519BCE6-E9AA-4FD8-84B7-8E50ACF0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9D6962-17FD-4B0D-B9E3-77BA8044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🎯 </a:t>
            </a:r>
            <a:r>
              <a:t>Evidence-Grounded Technical Review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Highlights evidence-matched technical checks and source gaps for review without claiming completeness or causal proof.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FC68612-205A-4401-B308-F6D4667A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77639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DD47DA-2882-4FB3-B67E-EE99398C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1480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🚀 Operational Velocity &amp; Accountability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Surfaces evidence-backed freshness, named ownership, dispatch status, and next-checkpoint visibility while the manager retains judgment.</a:t>
            </a:r>
          </a:p>
        </p:txBody>
      </p:sp>
    </p:spTree>
    <p:extLst>
      <p:ext uri="{BB962C8B-B14F-4D97-AF65-F5344CB8AC3E}">
        <p14:creationId xmlns:p14="http://schemas.microsoft.com/office/powerpoint/2010/main" val="7484112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E180C9-1859-463B-AC93-C99F855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Current Architecture &amp; Evidence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E2FA00-6014-4AD2-8639-98957C1B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72F93A3-4299-4ED3-BB56-0A074545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41D236-FE5E-40AE-B5CD-A2138EA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E4CFAE-AB2E-4784-B296-94F34EA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1. Interface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Manager Interface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C3625F-45C6-4CF0-836C-813AF75F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Windows desktop app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Local workflow execution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 ID request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Executive review output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8CBF6D-A97A-4E04-9E5A-FF9931E2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9CC989-8D6D-409A-B6D6-ECB896B5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640012-7914-40F0-8288-38728DE8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2. MCP Bridge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Case &amp; Email Bridges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086FDD-8E35-46EE-A535-6E242E3F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CaseToMD server (Port 8000)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Single Managed Edge Broker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Serialized Gmail MCP clients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Dedicated edge_broker_profile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69CA4E1-E3CC-462A-9B5D-38D08267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1D21053-D949-40EF-AB9F-18B5DE72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B71CED-4958-42CA-9BBF-0D4161CE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3. Intelligence Engine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Assessment &amp; References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2D1B59-6E1A-4225-BC19-BDDD80D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case-review workflow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Gmail capability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10-domain reference suite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Evidence-grounded assessment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232F7A2-5B61-44D9-B913-7796D64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2873CAB-7D6C-4C66-B0A2-C0B26ADC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26F80F-34BB-4566-A4E2-1ACEE73C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4. Enterprise Data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Evidence Sources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B2B3B5-013E-4F74-9603-6084E7D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Siebel SR Database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ServiceNow INC / CHG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Avaya Corporate Gmail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OCD Auto-router alerts</a:t>
            </a:r>
          </a:p>
        </p:txBody>
      </p:sp>
    </p:spTree>
    <p:extLst>
      <p:ext uri="{BB962C8B-B14F-4D97-AF65-F5344CB8AC3E}">
        <p14:creationId xmlns:p14="http://schemas.microsoft.com/office/powerpoint/2010/main" val="479150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3D66338-A431-47BB-8710-A8B5586B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1: CaseToMD Evidence-Preserving Fetcher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A0D57CB-B265-4D6E-AF08-3BC11A80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ED204D3-09BF-4A3C-89AB-A782E4DD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860FAB-7155-4BD5-8669-F488ACF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Universal Case ID Resolution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Multi-System Auto-Detection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Seamlessly handles Siebel SRs (1-23659220672), ServiceNow INCs (INC7386572), CTASKs, CHGs, and PRJTASKs without requiring string normalization.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MCP Protocol Bridge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Communicates securely via Model Context Protocol (MCP) with endpoint https://192.168.67.160:8000/mcp.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</a:t>
            </a:r>
            <a:r>
              <a:t>Source Record to Markdown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Converts multi-tab records into structured Markdown while preserving activity history, timestamps, and customer metadata.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B20E8-905B-4FFD-9907-3B9F7507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21E7AD-4AF5-4105-BCA4-7D9FA139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MCP Tool Execution Signature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// Tool Call:</a:t>
            </a:r>
            <a:br/>
            <a:r>
              <a:t>get_case_markdown(report_id: "1-23659220672")</a:t>
            </a:r>
            <a:br/>
            <a:br/>
            <a:r>
              <a:t>// JSON Response Structure:</a:t>
            </a:r>
            <a:br/>
            <a:r>
              <a:t>{</a:t>
            </a:r>
            <a:br/>
            <a:r>
              <a:t>  "success": true,</a:t>
            </a:r>
            <a:br/>
            <a:r>
              <a:t>  "case_id": "1-23659220672",</a:t>
            </a:r>
            <a:br/>
            <a:r>
              <a:t>  "title": "AES JTAPI null address on unpark",</a:t>
            </a:r>
            <a:br/>
            <a:r>
              <a:t>  "source": "Siebel SR",</a:t>
            </a:r>
            <a:br/>
            <a:r>
              <a:t>  "markdown": "# Case 1-23659220672\n..."</a:t>
            </a:r>
            <a:br/>
            <a:r>
              <a:t>}</a:t>
            </a:r>
            <a:br/>
            <a:br/>
            <a:r>
              <a:t>✔ Preserves full activity timeline</a:t>
            </a:r>
            <a:br/>
            <a:r>
              <a:t>✔ Extracts customer account &amp; contact</a:t>
            </a:r>
            <a:br/>
            <a:r>
              <a:t>✔ </a:t>
            </a:r>
            <a:r>
              <a:t>Preserves update timestamps</a:t>
            </a:r>
          </a:p>
        </p:txBody>
      </p:sp>
    </p:spTree>
    <p:extLst>
      <p:ext uri="{BB962C8B-B14F-4D97-AF65-F5344CB8AC3E}">
        <p14:creationId xmlns:p14="http://schemas.microsoft.com/office/powerpoint/2010/main" val="2586791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70F28A5-8D85-48F0-AB3D-5EBB19BA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2: Single Managed Edge Gmail Bridge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A20111-C179-4A27-9BCD-EC87769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34D0754-008E-4C52-8B53-A40E027E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596324-DBE3-47FE-B179-EDF2E513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1732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1: Single Managed Edge Broker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One broker serializes browser ownership across Gmail MCP clients and reuses the dedicated edge_broker_profile.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4CE49DC-D122-4B4A-847A-25D18AAE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9CC2B0-6465-4E85-BF46-E2BE4BC6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2: Complete Context Before Analysis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Freeze the primary and Case-note-related IDs. Every Case note is processed. Every message in every matched Gmail thread is read under one snapshot. Incomplete collection blocks the review. </a:t>
            </a:r>
            <a:r>
              <a:t>Attachment payloads are excluded; filenames and MIME metadata may be recorded.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A4FBAB-2DCD-4B25-90A0-6125F12D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AA4604-A14F-4A38-801D-AEF3F217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3: Conditional Managed Edge Sign-In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required; otherwise reuse the persistent session.</a:t>
            </a:r>
          </a:p>
        </p:txBody>
      </p:sp>
    </p:spTree>
    <p:extLst>
      <p:ext uri="{BB962C8B-B14F-4D97-AF65-F5344CB8AC3E}">
        <p14:creationId xmlns:p14="http://schemas.microsoft.com/office/powerpoint/2010/main" val="14337112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3: Embedded 10-Domain Avaya Knowledge Base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AES / CTI / JTAPI  (aes-cti-jtapi.md)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TSAPI, CSTA, DMCC, park/unpark, SA9114/SA9124, T####, connBelong... flags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Contact Center  (contact-center.md)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Oceana, AACC, POM, AXP, CMS, vector wait-time &gt; 0, skill routing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Recording &amp; WFO  (recording-wfo.md)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ACRA, Verint, WFO/WFE, RIS, WebLogic, CSTA_CALL_CLEARED boundaries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Analytics / K8s  (analytics-kubernetes.md)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Oceanalytics, Kafka, Kubernetes pod failures, MicroStrategy, ETL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Security &amp; CVE  (security-vulnerability.md)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AVAPT/NVAPT, CVE vulnerability analysis, cipher suite hardening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SIP &amp; Voice Quality  (sip-voice-quality.md)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SIP signaling, SBC, one-way audio, RTP, jitter, codec negotiation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AAE9702-D0D9-4993-BA25-A7249EC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7A240BE-FF0C-47F0-8FEE-FE17A1A7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Certificates &amp; Auth  (certificates-login-outage.md)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Certificate cascade, WebLM, SMGR, login/auth, major outage recovery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4E4415D-1F1D-4F88-8940-E1851CF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58334E-3FFD-47C6-BA70-606C6F1B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Digital Channels  (digital-channels.md)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Email, Social, Infinity, ESL, WeChat/WhatsApp, screen-pop routing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6AAF849-A947-477E-A0D3-02B370B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964134-3F85-4398-85EA-FE4A483B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IP Office (IPO)  (ip-office.md)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IP Office, SSA, SysMonitor, SIP trunk registration, IPO Manager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CF9321A-6158-486E-99E7-E74869EB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149100-2D2E-48B9-B88E-4915870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Log Collection  (log-collection.md)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getlogs, csta_trace, g3trace, spi.log, acr.log, tcpdump matrix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B68957-8298-43D2-A342-233E3A62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Technical Assessment (The Engine Brain)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FC6643-B7B5-4FFC-B106-2E92FD5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D1BB397-99EB-4B7C-BBFE-A13533C3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30BD13C-3A76-41BA-8B7B-36A3B83D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How Evidence-Grounded Assessment Works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Cross-Layer Evidence Comparison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supplied application and platform evidence. A matching pattern guides validation but does not establish cause.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Platform Configuration Evidence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References SA9114 and SA9124 when park/unpark trunk CLI loss is reported; it does not inspect the live platform.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API Method Reference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case usage with official Javadoc, such as LucentV5CallInfo.getUCID(), without treating the comparison as causal proof.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Log Sufficiency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Records whether expected logs were requested, attached, or analyzed; it does not ensure collection or attachment.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D10CD8-BC64-4060-90FA-1827D73B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3F12E-81DB-4EF4-8DD1-E08818E5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Technical Assessment Example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## Technical &amp; Incident Assessment</a:t>
            </a:r>
            <a:br/>
            <a:br/>
            <a:r>
              <a:t>Problem clarification:</a:t>
            </a:r>
            <a:br/>
            <a:r>
              <a:t>  Missing trunk CLI is reported on a second</a:t>
            </a:r>
            <a:br/>
            <a:r>
              <a:t>  unpark; scope and reproducibility are not</a:t>
            </a:r>
            <a:br/>
            <a:r>
              <a:t>  established by the available record.</a:t>
            </a:r>
            <a:br/>
            <a:r>
              <a:t>Findings:</a:t>
            </a:r>
            <a:br/>
            <a:r>
              <a:t>  A JTAPI null is recorded; synchronized CM and JTAPI traces are absent.</a:t>
            </a:r>
            <a:br/>
            <a:br/>
            <a:r>
              <a:t>Cause state — Under Investigation:</a:t>
            </a:r>
            <a:br/>
            <a:r>
              <a:t>  CM configuration is a working hypothesis;</a:t>
            </a:r>
            <a:br/>
            <a:r>
              <a:t>  other paths remain open pending evidence.</a:t>
            </a:r>
            <a:br/>
            <a:br/>
            <a:r>
              <a:t>Validation state:</a:t>
            </a:r>
            <a:br/>
            <a:r>
              <a:t>  No change or customer-confirmed outcome is evidenced.</a:t>
            </a:r>
          </a:p>
        </p:txBody>
      </p:sp>
    </p:spTree>
    <p:extLst>
      <p:ext uri="{BB962C8B-B14F-4D97-AF65-F5344CB8AC3E}">
        <p14:creationId xmlns:p14="http://schemas.microsoft.com/office/powerpoint/2010/main" val="94511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8DC5F2-0C05-41BF-B1F9-F660CF5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Vendor Handoff Review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19E535-5996-419E-989C-6ADC0A0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DBCBFD2-17EF-475A-8F0F-D05CCCE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2CCC26-72C3-49A6-B5A5-8D168FCD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10362895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Vendor Handoff Reference Matrix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CM / AES core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[BBE PEA]</a:t>
            </a:r>
            <a:r>
              <a:rPr b="0">
                <a:solidFill>
                  <a:srgbClr val="0F172A"/>
                </a:solidFill>
              </a:rPr>
              <a:t>  (CM ASAI, AES service crash, crossID exhaustion, CTI link state)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POM / AEP product-code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[CPE PEA]</a:t>
            </a:r>
            <a:r>
              <a:rPr b="0">
                <a:solidFill>
                  <a:srgbClr val="0F172A"/>
                </a:solidFill>
              </a:rPr>
              <a:t>  (POM campaign engine, AEP application server, REST driver)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Verint / WFO / RIS / WebLogic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[Verint Support Ticket]</a:t>
            </a:r>
            <a:r>
              <a:rPr b="0">
                <a:solidFill>
                  <a:srgbClr val="0F172A"/>
                </a:solidFill>
              </a:rPr>
              <a:t>  (ACRA recording failure, RIS connection, DMSA, WebLogic heap)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Nuance MRCP / ASR / TTS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[Nuance Support Ticket]</a:t>
            </a:r>
            <a:r>
              <a:rPr b="0">
                <a:solidFill>
                  <a:srgbClr val="0F172A"/>
                </a:solidFill>
              </a:rPr>
              <a:t>  (Speech recognition grammar errors, MRCP v2 connection timeout)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customer infrastructure condition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[Customer / MSP Action]</a:t>
            </a:r>
            <a:r>
              <a:rPr b="0">
                <a:solidFill>
                  <a:srgbClr val="0F172A"/>
                </a:solidFill>
              </a:rPr>
              <a:t>  (LDAP auth, SQL database, network firewall ports, network jitter)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300" b="1">
                <a:solidFill>
                  <a:srgbClr val="E63946"/>
                </a:solidFill>
              </a:defRPr>
            </a:pPr>
            <a:r>
              <a:t>🔴 </a:t>
            </a:r>
            <a:r>
              <a:t>Reference only after the failing component is evidenced. The manager retains ownership and risk judgment; this matrix does not assign a vendor.</a:t>
            </a:r>
          </a:p>
        </p:txBody>
      </p:sp>
    </p:spTree>
    <p:extLst>
      <p:ext uri="{BB962C8B-B14F-4D97-AF65-F5344CB8AC3E}">
        <p14:creationId xmlns:p14="http://schemas.microsoft.com/office/powerpoint/2010/main" val="21008127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Standardized Executive Review Report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1. 6-8 Sentence Executive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One conclusion-level paragraph: incident, impact, response, RCA state, mitigation, status, and next checkpoint.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2. Technical &amp; Incident Assessment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Reasoning, findings, validation state, and unresolved gaps without repeating the summary.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3. Progress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Substantive progress and validation outcomes across available sources.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4. Ownership &amp; Next Step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Evidence-stated assignee, last action, next action, owner, and due date.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5. Timeline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Dated substantive events, oldest to newest; undated events follow.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6. Appendix A — Evidence Register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Final reverse-mapped evidence table; no inline citations.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85A596-B50C-424B-8DFF-A5EB6A5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Manager Onboarding &amp; Deployment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E4DF7A-5B6A-4806-BCE1-7EF24FF2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24A0ADD-090F-45A2-9EC8-22C49DBA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4E70B3-D809-4525-B84C-AF96E72D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Automated Setup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Run setup_env.ps1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setup_env.ps1 deploys the skills, CaseToMD, Gmail MCP, and the Managed Edge broker.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</a:t>
            </a:r>
            <a:r>
              <a:t>Conditional Managed Edge Sign-In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Restart Antigravity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Restart so the desktop app loads the deployed case-review and Gmail capability.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F255AF-9686-4E77-B3CA-7B81F15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CA0413-098D-42B9-8162-7DEB418C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Complete Documentation Package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MANAGER_ONBOARDING_GUIDE.html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Support Manager setup, VPN requirements, example review prompts, and troubleshooting.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ANTIGRAVITY_INSTALLATION_GUIDE.html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Windows desktop installation and Managed Edge sign-in guidance.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README.html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Package contents, workflow overview, and execution instructions.</a:t>
            </a:r>
          </a:p>
        </p:txBody>
      </p:sp>
    </p:spTree>
    <p:extLst>
      <p:ext uri="{BB962C8B-B14F-4D97-AF65-F5344CB8AC3E}">
        <p14:creationId xmlns:p14="http://schemas.microsoft.com/office/powerpoint/2010/main" val="2979557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456B1C-A66F-4EC5-8EF9-A512079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Operational Capabilities &amp; Key Takeaways for Management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1D576D1-5A9A-4E5B-8876-8D9449D1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2C366D9-CE03-4D73-BA2A-FA0833C9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B6A0E4-01F3-4136-A779-06EB2255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Faster Preparation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Brings retrieved case and email evidence into one structured review with less source switching.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BF7AF0-2E97-4B57-B0EA-0EA2FECD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3F306-1BF6-4C2A-B13A-B3E194CC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Evidence Traceability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Maps conclusions to a final evidence register so the supporting source record can be inspected.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1030A6-BD74-46FF-8E62-92F8E538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92EA5-27A4-4B68-AFEB-D0C0A0AE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Earlier Escalation Signals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Surfaces dated ownership, dispatch, staleness, and source-gap signals without claiming a resolution outcome.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19354E3-7DAB-46EF-AEFE-FE09E206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10728655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3F0AAE-1189-4D30-862F-031AF36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9039"/>
            <a:ext cx="10362895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Use in Practice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setup_env.ps1 deploys the pack to each manager workstation.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MANAGER_ONBOARDING_GUIDE.html covers sign-in, review prompts, and troubleshooting.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Technical feedback can expand the domain references while the evidence gate remains unchanged.</a:t>
            </a:r>
          </a:p>
        </p:txBody>
      </p:sp>
    </p:spTree>
    <p:extLst>
      <p:ext uri="{BB962C8B-B14F-4D97-AF65-F5344CB8AC3E}">
        <p14:creationId xmlns:p14="http://schemas.microsoft.com/office/powerpoint/2010/main" val="9855536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2026-08-05T05:05:11.7570000Z</dcterms:created>
  <dcterms:modified xsi:type="dcterms:W3CDTF">2026-08-05T05:05:11.7570000Z</dcterms:modified>
</coreProperties>
</file>