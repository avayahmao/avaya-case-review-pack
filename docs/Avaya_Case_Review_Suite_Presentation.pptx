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66a7e682cf4eac" /><Relationship Type="http://schemas.openxmlformats.org/officeDocument/2006/relationships/extended-properties" Target="/docProps/app.xml" Id="R63e4300be080460c" /><Relationship Type="http://schemas.openxmlformats.org/officeDocument/2006/relationships/officeDocument" Target="/ppt/presentation.xml" Id="R2c302cc4e46848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0d01c2077c4de7"/>
  </p:sldMasterIdLst>
  <p:notesMasterIdLst>
    <p:notesMasterId xmlns:r="http://schemas.openxmlformats.org/officeDocument/2006/relationships" r:id="R043e001f6d67401b"/>
  </p:notesMasterIdLst>
  <p:sldIdLst>
    <p:sldId xmlns:r="http://schemas.openxmlformats.org/officeDocument/2006/relationships" id="256" r:id="R08ce11880fe94d34"/>
    <p:sldId xmlns:r="http://schemas.openxmlformats.org/officeDocument/2006/relationships" id="257" r:id="R95e52b09775943a8"/>
    <p:sldId xmlns:r="http://schemas.openxmlformats.org/officeDocument/2006/relationships" id="258" r:id="R6fd84978303c43c9"/>
    <p:sldId xmlns:r="http://schemas.openxmlformats.org/officeDocument/2006/relationships" id="259" r:id="Rd58cd3cd76134aa3"/>
    <p:sldId xmlns:r="http://schemas.openxmlformats.org/officeDocument/2006/relationships" id="260" r:id="R5f68fe322a594f5b"/>
    <p:sldId xmlns:r="http://schemas.openxmlformats.org/officeDocument/2006/relationships" id="261" r:id="Rf4974e0d28644644"/>
    <p:sldId xmlns:r="http://schemas.openxmlformats.org/officeDocument/2006/relationships" id="262" r:id="Rebebf8e28dc74114"/>
    <p:sldId xmlns:r="http://schemas.openxmlformats.org/officeDocument/2006/relationships" id="263" r:id="Rb7455323734847b4"/>
    <p:sldId xmlns:r="http://schemas.openxmlformats.org/officeDocument/2006/relationships" id="264" r:id="R504ba2122c6b4c7a"/>
    <p:sldId xmlns:r="http://schemas.openxmlformats.org/officeDocument/2006/relationships" id="265" r:id="R479feaca0c73498f"/>
    <p:sldId xmlns:r="http://schemas.openxmlformats.org/officeDocument/2006/relationships" id="266" r:id="R20dd9f18a9be4a36"/>
    <p:sldId xmlns:r="http://schemas.openxmlformats.org/officeDocument/2006/relationships" id="267" r:id="Rf3d2e7e01b544cde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e882eb06654d66" /><Relationship Type="http://schemas.openxmlformats.org/officeDocument/2006/relationships/slideMaster" Target="/ppt/slideMasters/slideMaster1.xml" Id="R370d01c2077c4de7" /><Relationship Type="http://schemas.openxmlformats.org/officeDocument/2006/relationships/notesMaster" Target="/ppt/notesMasters/notesMaster1.xml" Id="R043e001f6d67401b" /><Relationship Type="http://schemas.openxmlformats.org/officeDocument/2006/relationships/presProps" Target="/ppt/presProps.xml" Id="R9b3f1c78adbb4d26" /><Relationship Type="http://schemas.openxmlformats.org/officeDocument/2006/relationships/viewProps" Target="/ppt/viewProps.xml" Id="Rf3ae8788b1cf4efc" /><Relationship Type="http://schemas.openxmlformats.org/officeDocument/2006/relationships/tableStyles" Target="/ppt/tableStyles.xml" Id="R5349e8f8e1394c2a" /><Relationship Type="http://schemas.openxmlformats.org/officeDocument/2006/relationships/slide" Target="/ppt/slides/slide1.xml" Id="R08ce11880fe94d34" /><Relationship Type="http://schemas.openxmlformats.org/officeDocument/2006/relationships/slide" Target="/ppt/slides/slide2.xml" Id="R95e52b09775943a8" /><Relationship Type="http://schemas.openxmlformats.org/officeDocument/2006/relationships/slide" Target="/ppt/slides/slide3.xml" Id="R6fd84978303c43c9" /><Relationship Type="http://schemas.openxmlformats.org/officeDocument/2006/relationships/slide" Target="/ppt/slides/slide4.xml" Id="Rd58cd3cd76134aa3" /><Relationship Type="http://schemas.openxmlformats.org/officeDocument/2006/relationships/slide" Target="/ppt/slides/slide5.xml" Id="R5f68fe322a594f5b" /><Relationship Type="http://schemas.openxmlformats.org/officeDocument/2006/relationships/slide" Target="/ppt/slides/slide6.xml" Id="Rf4974e0d28644644" /><Relationship Type="http://schemas.openxmlformats.org/officeDocument/2006/relationships/slide" Target="/ppt/slides/slide7.xml" Id="Rebebf8e28dc74114" /><Relationship Type="http://schemas.openxmlformats.org/officeDocument/2006/relationships/slide" Target="/ppt/slides/slide8.xml" Id="Rb7455323734847b4" /><Relationship Type="http://schemas.openxmlformats.org/officeDocument/2006/relationships/slide" Target="/ppt/slides/slide9.xml" Id="R504ba2122c6b4c7a" /><Relationship Type="http://schemas.openxmlformats.org/officeDocument/2006/relationships/slide" Target="/ppt/slides/slide10.xml" Id="R479feaca0c73498f" /><Relationship Type="http://schemas.openxmlformats.org/officeDocument/2006/relationships/slide" Target="/ppt/slides/slide11.xml" Id="R20dd9f18a9be4a36" /><Relationship Type="http://schemas.openxmlformats.org/officeDocument/2006/relationships/slide" Target="/ppt/slides/slide12.xml" Id="Rf3d2e7e01b544c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e6f5f6277d4b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b5cf86e2e24eec" /><Relationship Type="http://schemas.openxmlformats.org/officeDocument/2006/relationships/notesMaster" Target="/ppt/notesMasters/notesMaster1.xml" Id="Ra7494f09ec4841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d1f9cae4ba4d75" /><Relationship Type="http://schemas.openxmlformats.org/officeDocument/2006/relationships/notesMaster" Target="/ppt/notesMasters/notesMaster1.xml" Id="Rd252158c45c940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9582b4d30140c6" /><Relationship Type="http://schemas.openxmlformats.org/officeDocument/2006/relationships/notesMaster" Target="/ppt/notesMasters/notesMaster1.xml" Id="R47ab00dd833a4d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d78d29b94646cd" /><Relationship Type="http://schemas.openxmlformats.org/officeDocument/2006/relationships/notesMaster" Target="/ppt/notesMasters/notesMaster1.xml" Id="Rfc31b0526c074e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4ca4d10a754bb9" /><Relationship Type="http://schemas.openxmlformats.org/officeDocument/2006/relationships/notesMaster" Target="/ppt/notesMasters/notesMaster1.xml" Id="R22bca52ada1a4c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0c3930f7774443" /><Relationship Type="http://schemas.openxmlformats.org/officeDocument/2006/relationships/notesMaster" Target="/ppt/notesMasters/notesMaster1.xml" Id="R60d330e8bf464f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fc2d40502f403e" /><Relationship Type="http://schemas.openxmlformats.org/officeDocument/2006/relationships/notesMaster" Target="/ppt/notesMasters/notesMaster1.xml" Id="R03b5548cca5945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180d40055f4b8c" /><Relationship Type="http://schemas.openxmlformats.org/officeDocument/2006/relationships/notesMaster" Target="/ppt/notesMasters/notesMaster1.xml" Id="Re75184b77cc945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b856a0fb164dd3" /><Relationship Type="http://schemas.openxmlformats.org/officeDocument/2006/relationships/notesMaster" Target="/ppt/notesMasters/notesMaster1.xml" Id="R4b28b6d840144a7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8370dea04e426a" /><Relationship Type="http://schemas.openxmlformats.org/officeDocument/2006/relationships/notesMaster" Target="/ppt/notesMasters/notesMaster1.xml" Id="Raf865b82cb5946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e18e5c727c4427" /><Relationship Type="http://schemas.openxmlformats.org/officeDocument/2006/relationships/notesMaster" Target="/ppt/notesMasters/notesMaster1.xml" Id="R6e4f98b4b3aa4d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4d972595014245" /><Relationship Type="http://schemas.openxmlformats.org/officeDocument/2006/relationships/notesMaster" Target="/ppt/notesMasters/notesMaster1.xml" Id="Rc16e611bd5f84d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case-review output contract (local source)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case-review output contract (local source)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f30d0b79a448e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960e7367494c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74fa6a6b8144e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0859dbc31341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22548aebde46c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60ddd6b8a541e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a6eec303344c1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305ba980fb4e3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2aa53a3fec47b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14402fe15d4ef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91e37927054fd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5D9160-7D7F-49A3-AAE0-CD3A46BAB8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F84F77C-17A0-4966-8948-72A451C580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BBFC812-41E8-47F5-82D1-352F9EB26B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26BC2FB-5594-487C-8F01-93690F3D9A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C374F6-09A2-465E-86C8-885A43B179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F19618-E14D-4C6A-B023-76E3355369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6B9FF84-7E58-4C7A-AE08-5780540A525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01AD476-E0DB-4C45-8132-EE33B4ED24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50BE52-8174-4392-BEFC-44C4A2AE43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41C8E4-EBD8-4E58-958D-F3694B3E0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7B02ED-57DD-44FD-BC77-4A49D1E228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F59F7C-F443-4F33-BFD5-37C0D229D6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8C332F-2E2C-4639-BBED-45325A7B36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40D806-505D-4877-8D8F-CDCA280F52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403BC9-2565-4A69-9F98-5D54F88DC1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D51C14-EF6A-4509-B463-CD0147F945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3302BA9-C542-4697-AB47-D6E668EE27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991B85B-D909-4FC2-8E46-0073D64583A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C7E8AFE-0DD4-4FC1-8C7F-5510195CCD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21D8541-95B4-45A8-BD0D-9E2D27224F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ADD4B66-85CA-4B8F-9B67-D078138BB2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B9E42B-0E84-4CDC-AA32-9C56DC138E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195102-ADC2-404F-8611-5E041AFFCA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99B902-D0C4-48EA-B8EC-083F87D072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4CF5C99-2E52-4561-B006-2BF1326313F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622A8F0-2A52-4BFC-9693-A96EB08EFAD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FFD9B5-FED3-41FF-8A64-A5FEF2AFEF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16A1229-7C0A-4926-A0B9-B4764F4B70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C879D91-2CF1-4BC2-B38E-8E4D051B82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ADCB8B-723F-4DB6-87EF-2415F62029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A45297E-E6D6-4CB7-8686-7AE26FA7C8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8416223-4682-4505-BEF2-668992B140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691846-42CA-4223-A94C-4399636B51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4D190BD-0443-4A96-84AA-7D922549EF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67DA351-3EA9-4ABC-A7B6-E713365040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E9DBEAE-EEE3-4682-9482-9652E1D133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7463FC-4965-4EB2-AC69-9CBBE9BFF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D3FB3E5-DE9C-4ADA-BD87-990FBBFA8B0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B86EAE9-1E04-4F33-A617-CD3A0BABEB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BDAA4C-F3FD-45F5-96A0-E30EE14FB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CE6312B-0A2A-4DCA-87CA-5D451B2DED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7E6AD51-F9E6-4AEF-B80B-473EFE0535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D26606-B682-4F1F-A536-BFC5981659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588FAF4-23EF-47D1-8FC9-EB770CA0A0C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7B8FE66-49E3-4F8E-B277-23B5896156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BE9D61-DB6D-41BC-B06B-1E7F8374E0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9235939-328E-42F2-909C-2922958815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3BFCDAA-C0C9-400D-9D4E-5F728A2BF7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547DA8-DA01-4476-AEAD-6F23FCB549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4E9A55-D701-474A-90C3-8450875EDD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01E95D-A000-4507-B863-88A667F22C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97BA70-31E3-4DBD-AABE-90A009561E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BB32A1-F101-4E1C-8290-A238A0B78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199625B-B950-492B-87B9-DDFD24521E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AC8DAB7-F452-4BC4-8066-63555CA698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E783900-F68A-4648-A36D-31B5DCE2C4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003F017-B77C-4F40-AD07-AA4497D2F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67D57E-B660-4840-87E5-108E2C1D17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fb6fa34e834588" /><Relationship Type="http://schemas.openxmlformats.org/officeDocument/2006/relationships/slideLayout" Target="/ppt/slideLayouts/slideLayout1.xml" Id="R24ebb5777b1e421f" /><Relationship Type="http://schemas.openxmlformats.org/officeDocument/2006/relationships/slideLayout" Target="/ppt/slideLayouts/slideLayout2.xml" Id="R9f966ac165d44695" /><Relationship Type="http://schemas.openxmlformats.org/officeDocument/2006/relationships/slideLayout" Target="/ppt/slideLayouts/slideLayout3.xml" Id="R7a1d423809484b48" /><Relationship Type="http://schemas.openxmlformats.org/officeDocument/2006/relationships/slideLayout" Target="/ppt/slideLayouts/slideLayout4.xml" Id="R47a53bd1393c4c76" /><Relationship Type="http://schemas.openxmlformats.org/officeDocument/2006/relationships/slideLayout" Target="/ppt/slideLayouts/slideLayout5.xml" Id="R66aa6eda84d544d8" /><Relationship Type="http://schemas.openxmlformats.org/officeDocument/2006/relationships/slideLayout" Target="/ppt/slideLayouts/slideLayout6.xml" Id="R337f3c821395404d" /><Relationship Type="http://schemas.openxmlformats.org/officeDocument/2006/relationships/slideLayout" Target="/ppt/slideLayouts/slideLayout7.xml" Id="R85cd112df81e48ff" /><Relationship Type="http://schemas.openxmlformats.org/officeDocument/2006/relationships/slideLayout" Target="/ppt/slideLayouts/slideLayout8.xml" Id="Rf6d95f6a68f64153" /><Relationship Type="http://schemas.openxmlformats.org/officeDocument/2006/relationships/slideLayout" Target="/ppt/slideLayouts/slideLayout9.xml" Id="Rd22d8077a3cb414f" /><Relationship Type="http://schemas.openxmlformats.org/officeDocument/2006/relationships/slideLayout" Target="/ppt/slideLayouts/slideLayout10.xml" Id="R238117bd8da84c85" /><Relationship Type="http://schemas.openxmlformats.org/officeDocument/2006/relationships/slideLayout" Target="/ppt/slideLayouts/slideLayout11.xml" Id="R01a87251087a4f4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A1536F9-0FC2-4558-822F-C633222E6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0F147D-07A8-405E-A771-320D73AF6E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F152F5-C7F1-4420-974F-88F140F852E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234B17-0CFE-4FD0-A5BA-DE4DED237F3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BD9DEC-F858-497F-9EC9-6AE6ADCE6E6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ebb5777b1e421f"/>
    <p:sldLayoutId xmlns:r="http://schemas.openxmlformats.org/officeDocument/2006/relationships" id="2147483650" r:id="R9f966ac165d44695"/>
    <p:sldLayoutId xmlns:r="http://schemas.openxmlformats.org/officeDocument/2006/relationships" id="2147483651" r:id="R7a1d423809484b48"/>
    <p:sldLayoutId xmlns:r="http://schemas.openxmlformats.org/officeDocument/2006/relationships" id="2147483652" r:id="R47a53bd1393c4c76"/>
    <p:sldLayoutId xmlns:r="http://schemas.openxmlformats.org/officeDocument/2006/relationships" id="2147483653" r:id="R66aa6eda84d544d8"/>
    <p:sldLayoutId xmlns:r="http://schemas.openxmlformats.org/officeDocument/2006/relationships" id="2147483654" r:id="R337f3c821395404d"/>
    <p:sldLayoutId xmlns:r="http://schemas.openxmlformats.org/officeDocument/2006/relationships" id="2147483655" r:id="R85cd112df81e48ff"/>
    <p:sldLayoutId xmlns:r="http://schemas.openxmlformats.org/officeDocument/2006/relationships" id="2147483656" r:id="Rf6d95f6a68f64153"/>
    <p:sldLayoutId xmlns:r="http://schemas.openxmlformats.org/officeDocument/2006/relationships" id="2147483657" r:id="Rd22d8077a3cb414f"/>
    <p:sldLayoutId xmlns:r="http://schemas.openxmlformats.org/officeDocument/2006/relationships" id="2147483658" r:id="R238117bd8da84c85"/>
    <p:sldLayoutId xmlns:r="http://schemas.openxmlformats.org/officeDocument/2006/relationships" id="2147483659" r:id="R01a87251087a4f4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b8b84f1b054e9e" /><Relationship Type="http://schemas.openxmlformats.org/officeDocument/2006/relationships/notesSlide" Target="/ppt/notesSlides/notesSlide1.xml" Id="R1eee887c41bd4b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a3d25038694e56" /><Relationship Type="http://schemas.openxmlformats.org/officeDocument/2006/relationships/notesSlide" Target="/ppt/notesSlides/notesSlide2.xml" Id="Re6ef6cddf17a40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56ef2aa5204c07" /><Relationship Type="http://schemas.openxmlformats.org/officeDocument/2006/relationships/notesSlide" Target="/ppt/notesSlides/notesSlide3.xml" Id="Rd3278b2dd7984f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80b5c2672e4d35" /><Relationship Type="http://schemas.openxmlformats.org/officeDocument/2006/relationships/notesSlide" Target="/ppt/notesSlides/notesSlide4.xml" Id="R07f66057314544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a40f0df9b14a3b" /><Relationship Type="http://schemas.openxmlformats.org/officeDocument/2006/relationships/notesSlide" Target="/ppt/notesSlides/notesSlide5.xml" Id="Raa27a8ebf840444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20cddcec43457e" /><Relationship Type="http://schemas.openxmlformats.org/officeDocument/2006/relationships/notesSlide" Target="/ppt/notesSlides/notesSlide6.xml" Id="R84eb0729da254e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692790aaf64080" /><Relationship Type="http://schemas.openxmlformats.org/officeDocument/2006/relationships/notesSlide" Target="/ppt/notesSlides/notesSlide7.xml" Id="R4be787afcd7541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a222d5c15745a5" /><Relationship Type="http://schemas.openxmlformats.org/officeDocument/2006/relationships/notesSlide" Target="/ppt/notesSlides/notesSlide8.xml" Id="R711f62aa226a4a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03174cd7f44ead" /><Relationship Type="http://schemas.openxmlformats.org/officeDocument/2006/relationships/notesSlide" Target="/ppt/notesSlides/notesSlide9.xml" Id="Rccf38d966a3249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488ab87c284101" /><Relationship Type="http://schemas.openxmlformats.org/officeDocument/2006/relationships/notesSlide" Target="/ppt/notesSlides/notesSlide10.xml" Id="R89454115f4e345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5a1103c9b64862" /><Relationship Type="http://schemas.openxmlformats.org/officeDocument/2006/relationships/notesSlide" Target="/ppt/notesSlides/notesSlide11.xml" Id="R8e4a18ac45b24a4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37cca08ace4460" /><Relationship Type="http://schemas.openxmlformats.org/officeDocument/2006/relationships/notesSlide" Target="/ppt/notesSlides/notesSlide12.xml" Id="R269038b558ea44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9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79EE525-FD0F-450D-ACF6-DA001245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137160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9139AF2-B6C2-4F87-9A78-400F1A52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1069848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spcAft>
                <a:spcPts val="2000"/>
              </a:spcAft>
              <a:buNone/>
              <a:defRPr sz="36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&amp; Intelligent Diagnostic Engine</a:t>
            </a:r>
          </a:p>
          <a:p xmlns:a="http://schemas.openxmlformats.org/drawingml/2006/main">
            <a:pPr>
              <a:spcAft>
                <a:spcPts val="3000"/>
              </a:spcAft>
              <a:buNone/>
              <a:defRPr sz="180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t>AI-Powered Case Governance, Off-System Email Synthesis &amp; Evidence-Grounded Technical Assessment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Designed for Support Managers, Operations Leads, SDMs &amp; Technical Escalation Managers</a:t>
            </a:r>
          </a:p>
        </p:txBody>
      </p:sp>
    </p:spTree>
    <p:extLst>
      <p:ext uri="{BB962C8B-B14F-4D97-AF65-F5344CB8AC3E}">
        <p14:creationId xmlns:p14="http://schemas.microsoft.com/office/powerpoint/2010/main" val="8087110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E35B2D1-12AD-442B-BAD5-29641561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The Governance Challenge: Fragmented Evidence &amp; Technical Uncertainty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F11237-904D-4F4A-A3F8-1686E3F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5867128-4D9C-42CD-87C9-DD3FABF5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53CAAB4-CD64-4D99-B644-464420AC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1. Invisible Off-System Email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Customer commitments and SDM updates may sit in Gmail threads outside Siebel or ServiceNow.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OCD dispatch alerts, including 'UNASSIGNABLE' tasks, may be visible only in inbox notifications.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Managers need one evidence view spanning formal case notes and case-bounded email.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F385809-759E-48C2-B3A7-BD6C5894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8CE03A-7C16-4EF9-9DC0-1516C6E3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2. Technical Direction Uncertainty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Retrieved evidence may support competing hypotheses that require targeted validation.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Product references guide validation but do not prove cause; ownership stays unresolved until the failing component is evidenced.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Missing logs or incomplete validation can delay a supported conclusion.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21003AF-B455-4807-83F3-45C824E6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BAFF75C-D97F-4FED-8AFD-8E7991D6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3. Management Overload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Long Siebel SR and ServiceNow INC histories can obscure substantive progress.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Case freshness and unassigned next steps are difficult to track across large queues.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Managers need a concise conclusion and a traceable path back to the supporting evidence.</a:t>
            </a:r>
          </a:p>
        </p:txBody>
      </p:sp>
    </p:spTree>
    <p:extLst>
      <p:ext uri="{BB962C8B-B14F-4D97-AF65-F5344CB8AC3E}">
        <p14:creationId xmlns:p14="http://schemas.microsoft.com/office/powerpoint/2010/main" val="9071520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B10B42B-EF92-4DD7-8918-6B4E162A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Strategic Solution: Evidence-Grounded Case Review Suite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93D0E9F-F585-4F5E-A3EC-929604AA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56CBB957-39F3-4209-9D54-D13F5620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3C0CC3-CF45-4AC3-A4C0-72C4CCA3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54480"/>
            <a:ext cx="4572000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600"/>
              </a:spcAft>
              <a:buNone/>
              <a:defRPr sz="2200" b="1">
                <a:solidFill>
                  <a:srgbClr val="FFFFFF"/>
                </a:solidFill>
              </a:defRPr>
            </a:pPr>
            <a:r>
              <a:t>The Avaya Case Review Suite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⚡ </a:t>
            </a:r>
            <a:r>
              <a:t>Structured Executive Review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Combines retrieved case and email evidence into the six-section management brief.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📧 </a:t>
            </a:r>
            <a:r>
              <a:t>Case-Bounded Email Evidence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The Managed Edge broker searches case and task identifiers; retrieved messages extend the evidence set.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🧠 </a:t>
            </a:r>
            <a:r>
              <a:t>Embedded 10-Domain Reference Suite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Product references suggest evidence-triggered checks and reference destinations; they do not prove cause.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519BCE6-E9AA-4FD8-84B7-8E50ACF0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9D6962-17FD-4B0D-B9E3-77BA8044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493776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🎯 </a:t>
            </a:r>
            <a:r>
              <a:t>Evidence-Grounded Technical Review</a:t>
            </a:r>
          </a:p>
          <a:p xmlns:a="http://schemas.openxmlformats.org/drawingml/2006/main">
            <a:pPr>
              <a:buNone/>
              <a:defRPr sz="1300">
                <a:solidFill>
                  <a:srgbClr val="0F172A"/>
                </a:solidFill>
              </a:defRPr>
            </a:pPr>
            <a:r>
              <a:t>Highlights evidence-matched technical checks and source gaps for review without claiming completeness or causal proof.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FC68612-205A-4401-B308-F6D4667A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77639"/>
            <a:ext cx="53035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CDD47DA-2882-4FB3-B67E-EE99398C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14800"/>
            <a:ext cx="493776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🚀 Operational Velocity &amp; Accountability</a:t>
            </a:r>
          </a:p>
          <a:p xmlns:a="http://schemas.openxmlformats.org/drawingml/2006/main">
            <a:pPr>
              <a:buNone/>
              <a:defRPr sz="1300">
                <a:solidFill>
                  <a:srgbClr val="0F172A"/>
                </a:solidFill>
              </a:defRPr>
            </a:pPr>
            <a:r>
              <a:t>Surfaces evidence-backed freshness, named ownership, dispatch status, and next-checkpoint visibility while the manager retains judgment.</a:t>
            </a:r>
          </a:p>
        </p:txBody>
      </p:sp>
    </p:spTree>
    <p:extLst>
      <p:ext uri="{BB962C8B-B14F-4D97-AF65-F5344CB8AC3E}">
        <p14:creationId xmlns:p14="http://schemas.microsoft.com/office/powerpoint/2010/main" val="7484112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E180C9-1859-463B-AC93-C99F8550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Current Architecture &amp; Evidence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EE2FA00-6014-4AD2-8639-98957C1B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72F93A3-4299-4ED3-BB56-0A074545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E41D236-FE5E-40AE-B5CD-A2138EAB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9E4CFAE-AB2E-4784-B296-94F34EA3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1. Interface Layer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Manager Interface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C3625F-45C6-4CF0-836C-813AF75F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Windows desktop app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Local workflow execution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 ID request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Executive review output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88CBF6D-A97A-4E04-9E5A-FF9931E2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89CC989-8D6D-409A-B6D6-ECB896B5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F640012-7914-40F0-8288-38728DE8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2. MCP Bridge Layer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Case &amp; Email Bridges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086FDD-8E35-46EE-A535-6E242E3F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CaseToMD server (Port 8000)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Single Managed Edge Broker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Serialized Gmail MCP clients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Dedicated edge_broker_profile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69CA4E1-E3CC-462A-9B5D-38D08267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1D21053-D949-40EF-AB9F-18B5DE72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DB71CED-4958-42CA-9BBF-0D4161CE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3. Intelligence Engine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Assessment &amp; References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2D1B59-6E1A-4225-BC19-BDDD80D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case-review workflow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Gmail capability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10-domain reference suite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Evidence-grounded assessment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232F7A2-5B61-44D9-B913-7796D646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2873CAB-7D6C-4C66-B0A2-C0B26ADC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426F80F-34BB-4566-A4E2-1ACEE73C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4. Enterprise Data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Evidence Sources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EB2B3B5-013E-4F74-9603-6084E7DF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Siebel SR Database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ServiceNow INC / CHG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Avaya Corporate Gmail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OCD Auto-router alerts</a:t>
            </a:r>
          </a:p>
        </p:txBody>
      </p:sp>
    </p:spTree>
    <p:extLst>
      <p:ext uri="{BB962C8B-B14F-4D97-AF65-F5344CB8AC3E}">
        <p14:creationId xmlns:p14="http://schemas.microsoft.com/office/powerpoint/2010/main" val="4791500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3D66338-A431-47BB-8710-A8B5586B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1: CaseToMD Evidence-Preserving Fetcher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A0D57CB-B265-4D6E-AF08-3BC11A80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ED204D3-09BF-4A3C-89AB-A782E4DD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2860FAB-7155-4BD5-8669-F488ACFD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Universal Case ID Resolution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Multi-System Auto-Detection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Seamlessly handles Siebel SRs (1-23659220672), ServiceNow INCs (INC7386572), CTASKs, CHGs, and PRJTASKs without requiring string normalization.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MCP Protocol Bridge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Communicates securely via Model Context Protocol (MCP) with endpoint https://192.168.67.160:8000/mcp.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</a:t>
            </a:r>
            <a:r>
              <a:t>Source Record to Markdown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Converts multi-tab records into structured Markdown while preserving activity history, timestamps, and customer metadata.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B20E8-905B-4FFD-9907-3B9F7507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F21E7AD-4AF5-4105-BCA4-7D9FA139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 b="1">
                <a:solidFill>
                  <a:srgbClr val="E63946"/>
                </a:solidFill>
              </a:defRPr>
            </a:pPr>
            <a:r>
              <a:t>MCP Tool Execution Signature</a:t>
            </a:r>
          </a:p>
          <a:p xmlns:a="http://schemas.openxmlformats.org/drawingml/2006/main">
            <a:pPr>
              <a:buNone/>
              <a:defRPr sz="120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t>// Tool Call:</a:t>
            </a:r>
            <a:br/>
            <a:r>
              <a:t>get_case_markdown(report_id: "1-23659220672")</a:t>
            </a:r>
            <a:br/>
            <a:br/>
            <a:r>
              <a:t>// JSON Response Structure:</a:t>
            </a:r>
            <a:br/>
            <a:r>
              <a:t>{</a:t>
            </a:r>
            <a:br/>
            <a:r>
              <a:t>  "success": true,</a:t>
            </a:r>
            <a:br/>
            <a:r>
              <a:t>  "case_id": "1-23659220672",</a:t>
            </a:r>
            <a:br/>
            <a:r>
              <a:t>  "title": "AES JTAPI null address on unpark",</a:t>
            </a:r>
            <a:br/>
            <a:r>
              <a:t>  "source": "Siebel SR",</a:t>
            </a:r>
            <a:br/>
            <a:r>
              <a:t>  "markdown": "# Case 1-23659220672\n..."</a:t>
            </a:r>
            <a:br/>
            <a:r>
              <a:t>}</a:t>
            </a:r>
            <a:br/>
            <a:br/>
            <a:r>
              <a:t>✔ Preserves full activity timeline</a:t>
            </a:r>
            <a:br/>
            <a:r>
              <a:t>✔ Extracts customer account &amp; contact</a:t>
            </a:r>
            <a:br/>
            <a:r>
              <a:t>✔ </a:t>
            </a:r>
            <a:r>
              <a:t>Preserves update timestamps</a:t>
            </a:r>
          </a:p>
        </p:txBody>
      </p:sp>
    </p:spTree>
    <p:extLst>
      <p:ext uri="{BB962C8B-B14F-4D97-AF65-F5344CB8AC3E}">
        <p14:creationId xmlns:p14="http://schemas.microsoft.com/office/powerpoint/2010/main" val="25867916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70F28A5-8D85-48F0-AB3D-5EBB19BA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2: Single Managed Edge Gmail Bridge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A20111-C179-4A27-9BCD-EC877692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34D0754-008E-4C52-8B53-A40E027E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D596324-DBE3-47FE-B179-EDF2E513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1732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1: Single Managed Edge Broker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One broker serializes browser ownership across Gmail MCP clients and reuses the dedicated edge_broker_profile.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4CE49DC-D122-4B4A-847A-25D18AAE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9CC2B0-6465-4E85-BF46-E2BE4BC6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324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2: Complete Context Before Analysis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Query Gmail with the primary raw Case ID only; retain related IDs as Case context.</a:t>
            </a:r>
            <a:r>
              <a:t> Every Case note is processed. </a:t>
            </a:r>
            <a:r>
              <a:t>Every message in every primary-ID-matched Gmail thread</a:t>
            </a:r>
            <a:r>
              <a:t> is read under one snapshot. Incomplete collection blocks the review. </a:t>
            </a:r>
            <a:r>
              <a:t>Attachment payloads are excluded; filenames and MIME metadata may be recorded.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3A4FBAB-2DCD-4B25-90A0-6125F12D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FAA4604-A14F-4A38-801D-AEF3F217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916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3: Conditional Managed Edge Sign-In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Run gmail_brokerctl.py login only when gmail_brokerctl.py status reports authentication required; otherwise reuse the persistent session.</a:t>
            </a:r>
          </a:p>
        </p:txBody>
      </p:sp>
    </p:spTree>
    <p:extLst>
      <p:ext uri="{BB962C8B-B14F-4D97-AF65-F5344CB8AC3E}">
        <p14:creationId xmlns:p14="http://schemas.microsoft.com/office/powerpoint/2010/main" val="14337112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027D522-9F8D-41BD-AA60-A5386CA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3: Embedded 10-Domain Avaya Knowledge Base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267E64-3BD5-4243-9C8E-E3F05B1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13CE156-6B62-45CB-8283-B3A8ACF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D46983-7C8A-4A6E-B260-258FCB3A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AES / CTI / JTAPI  (aes-cti-jtapi.md)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TSAPI, CSTA, DMCC, park/unpark, SA9114/SA9124, T####, connBelong... flags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3F7DB1-A5AB-4A2C-97E8-B3A355D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1C8242-5799-4FBD-9E43-A6D98704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Contact Center  (contact-center.md)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Oceana, AACC, POM, AXP, CMS, vector wait-time &gt; 0, skill routing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E1E2F0-08F8-457E-9ADC-1E872C5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704486-8AE5-45BF-80E2-5224FEAF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Recording &amp; WFO  (recording-wfo.md)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ACRA, Verint, WFO/WFE, RIS, WebLogic, CSTA_CALL_CLEARED boundaries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BC075C4-0EB8-430D-8BD2-EA536DBA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DF9AD73-C5D2-4BA0-99BA-639B3AD2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Analytics / K8s  (analytics-kubernetes.md)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Oceanalytics, Kafka, Kubernetes pod failures, MicroStrategy, ETL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3D44F8-A671-494C-B9CE-D8A3D3E7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BDDCDD-4CCB-4441-8E54-FA232301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Security &amp; CVE  (security-vulnerability.md)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AVAPT/NVAPT, CVE vulnerability analysis, cipher suite hardening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52BBB86-E58B-4D20-B58F-2E77406B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1C2A257-20B3-4BFF-B2DC-281B572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SIP &amp; Voice Quality  (sip-voice-quality.md)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SIP signaling, SBC, one-way audio, RTP, jitter, codec negotiation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AAE9702-D0D9-4993-BA25-A7249EC4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7A240BE-FF0C-47F0-8FEE-FE17A1A7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7083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Certificates &amp; Auth  (certificates-login-outage.md)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Certificate cascade, WebLM, SMGR, login/auth, major outage recovery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4E4415D-1F1D-4F88-8940-E1851CF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9768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658334E-3FFD-47C6-BA70-606C6F1B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7083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Digital Channels  (digital-channels.md)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Email, Social, Infinity, ESL, WeChat/WhatsApp, screen-pop routing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E6AAF849-A947-477E-A0D3-02B370B9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3964134-3F85-4398-85EA-FE4A483B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7667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IP Office (IPO)  (ip-office.md)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IP Office, SSA, SysMonitor, SIP trunk registration, IPO Manager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BCF9321A-6158-486E-99E7-E74869EB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30352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149100-2D2E-48B9-B88E-49158707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7667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Log Collection  (log-collection.md)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getlogs, csta_trace, g3trace, spi.log, acr.log, tcpdump matrix</a:t>
            </a:r>
          </a:p>
        </p:txBody>
      </p:sp>
    </p:spTree>
    <p:extLst>
      <p:ext uri="{BB962C8B-B14F-4D97-AF65-F5344CB8AC3E}">
        <p14:creationId xmlns:p14="http://schemas.microsoft.com/office/powerpoint/2010/main" val="10670839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7B68957-8298-43D2-A342-233E3A62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Proof-State Technical Specification (The Engine Brain)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4FC6643-B7B5-4FFC-B106-2E92FD56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D1BB397-99EB-4B7C-BBFE-A13533C3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30BD13C-3A76-41BA-8B7B-36A3B83D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How Evidence-Grounded Technical Review Works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Cross-Layer Evidence Comparison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Compares supplied application and platform evidence. A matching pattern guides validation but does not establish cause.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Platform Configuration Evidence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References SA9114 and SA9124 when park/unpark trunk CLI loss is reported; it does not inspect the live platform.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API Method Reference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Compares case usage with official Javadoc, such as LucentV5CallInfo.getUCID(), without treating the comparison as causal proof.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Log Sufficiency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Records whether expected logs were requested, attached, or analyzed; it does not ensure collection or attachment.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5D10CD8-BC64-4060-90FA-1827D73B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3F12E-81DB-4EF4-8DD1-E08818E5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 b="1">
                <a:solidFill>
                  <a:srgbClr val="E63946"/>
                </a:solidFill>
              </a:defRPr>
            </a:pPr>
            <a:r>
              <a:t>Technical Specification Example</a:t>
            </a:r>
          </a:p>
          <a:p xmlns:a="http://schemas.openxmlformats.org/drawingml/2006/main">
            <a:pPr>
              <a:buNone/>
              <a:defRPr sz="120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t>## Technical Specification
Scope | UNKNOWN
  Affected scope is not established.
Symptom | OBSERVED
  A JTAPI null return is recorded.
Confirmed mechanism | NOT OBSERVED
  Same-event application/CM evidence is absent.
Suspected or unproven | SUSPECTED
  CM feature configuration remains a hypothesis.
Verification | NOT COLLECTED
  Synchronized traces are missing.
Production outcome | UNKNOWN
  No post-change production evidence is present.</a:t>
            </a:r>
          </a:p>
        </p:txBody>
      </p:sp>
    </p:spTree>
    <p:extLst>
      <p:ext uri="{BB962C8B-B14F-4D97-AF65-F5344CB8AC3E}">
        <p14:creationId xmlns:p14="http://schemas.microsoft.com/office/powerpoint/2010/main" val="9451114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48DC5F2-0C05-41BF-B1F9-F660CF5C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Evidence-Grounded Vendor Handoff Review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A19E535-5996-419E-989C-6ADC0A0C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7DBCBFD2-17EF-475A-8F0F-D05CCCE9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10728655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B2CCC26-72C3-49A6-B5A5-8D168FCD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10362895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Vendor Handoff Reference Matrix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CM / AES core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[BBE PEA]</a:t>
            </a:r>
            <a:r>
              <a:rPr b="0">
                <a:solidFill>
                  <a:srgbClr val="0F172A"/>
                </a:solidFill>
              </a:rPr>
              <a:t>  (CM ASAI, AES service crash, crossID exhaustion, CTI link state)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POM / AEP product-code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[CPE PEA]</a:t>
            </a:r>
            <a:r>
              <a:rPr b="0">
                <a:solidFill>
                  <a:srgbClr val="0F172A"/>
                </a:solidFill>
              </a:rPr>
              <a:t>  (POM campaign engine, AEP application server, REST driver)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Verint / WFO / RIS / WebLogic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[Verint Support Ticket]</a:t>
            </a:r>
            <a:r>
              <a:rPr b="0">
                <a:solidFill>
                  <a:srgbClr val="0F172A"/>
                </a:solidFill>
              </a:rPr>
              <a:t>  (ACRA recording failure, RIS connection, DMSA, WebLogic heap)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Nuance MRCP / ASR / TTS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[Nuance Support Ticket]</a:t>
            </a:r>
            <a:r>
              <a:rPr b="0">
                <a:solidFill>
                  <a:srgbClr val="0F172A"/>
                </a:solidFill>
              </a:rPr>
              <a:t>  (Speech recognition grammar errors, MRCP v2 connection timeout)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customer infrastructure condition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[Customer / MSP Action]</a:t>
            </a:r>
            <a:r>
              <a:rPr b="0">
                <a:solidFill>
                  <a:srgbClr val="0F172A"/>
                </a:solidFill>
              </a:rPr>
              <a:t>  (LDAP auth, SQL database, network firewall ports, network jitter)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300" b="1">
                <a:solidFill>
                  <a:srgbClr val="E63946"/>
                </a:solidFill>
              </a:defRPr>
            </a:pPr>
            <a:r>
              <a:t>🔴 </a:t>
            </a:r>
            <a:r>
              <a:t>Reference only after the failing component is evidenced. The manager retains ownership and risk judgment; this matrix does not assign a vendor.</a:t>
            </a:r>
          </a:p>
        </p:txBody>
      </p:sp>
    </p:spTree>
    <p:extLst>
      <p:ext uri="{BB962C8B-B14F-4D97-AF65-F5344CB8AC3E}">
        <p14:creationId xmlns:p14="http://schemas.microsoft.com/office/powerpoint/2010/main" val="21008127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027D522-9F8D-41BD-AA60-A5386CA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Deterministic Case Review Presentation Modes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267E64-3BD5-4243-9C8E-E3F05B1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13CE156-6B62-45CB-8283-B3A8ACF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D46983-7C8A-4A6E-B260-258FCB3A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53312"/>
            <a:ext cx="4846320" cy="746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1. standard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Structured ReviewSnapshot v2 preserves the whole-case storyline through progress flow, Causal Assessment, Timeline, and Evidence Register.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3F7DB1-A5AB-4A2C-97E8-B3A355D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1C8242-5799-4FBD-9E43-A6D98704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2. compact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Explicit short view only; retains the primary problem, conflict, blocker, owner, and ETA.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E1E2F0-08F8-457E-9ADC-1E872C5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704486-8AE5-45BF-80E2-5224FEAF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3. follow-up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Material delta first, then the complete standard investigation; the prior record remains comparison only.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BC075C4-0EB8-430D-8BD2-EA536DBA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DF9AD73-C5D2-4BA0-99BA-639B3AD2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4. technical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Fixed proof-state Technical Specification with explicit evidence gaps.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3D44F8-A671-494C-B9CE-D8A3D3E7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BDDCDD-4CCB-4441-8E54-FA232301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5. flow + Adaptive Visual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Explicit progress flow of evidence-backed state transitions; never replaced by another diagnostic visual.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52BBB86-E58B-4D20-B58F-2E77406B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1C2A257-20B3-4BFF-B2DC-281B572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6. full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Explicit on-demand view; Appendix A — Evidence Register remains last.</a:t>
            </a:r>
          </a:p>
        </p:txBody>
      </p:sp>
    </p:spTree>
    <p:extLst>
      <p:ext uri="{BB962C8B-B14F-4D97-AF65-F5344CB8AC3E}">
        <p14:creationId xmlns:p14="http://schemas.microsoft.com/office/powerpoint/2010/main" val="106708397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385A596-B50C-424B-8DFF-A5EB6A57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Manager Onboarding &amp; Deployment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E4DF7A-5B6A-4806-BCE1-7EF24FF2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24A0ADD-090F-45A2-9EC8-22C49DBA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14E70B3-D809-4525-B84C-AF96E72D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Automated Setup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Run setup_env.ps1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setup_env.ps1 deploys the skills, CaseToMD, Gmail MCP, and the Managed Edge broker.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</a:t>
            </a:r>
            <a:r>
              <a:t>Conditional Managed Edge Sign-In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Run gmail_brokerctl.py login only when gmail_brokerctl.py status reports authentication required.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Restart Antigravity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Restart so the desktop app loads the deployed case-review and Gmail capability.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2F255AF-9686-4E77-B3CA-7B81F158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DCA0413-098D-42B9-8162-7DEB418C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Complete Documentation Package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MANAGER_ONBOARDING_GUIDE.html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Support Manager setup, VPN requirements, example review prompts, and troubleshooting.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ANTIGRAVITY_INSTALLATION_GUIDE.html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Windows desktop installation and Managed Edge sign-in guidance.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README.html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Package contents, workflow overview, and execution instructions.</a:t>
            </a:r>
          </a:p>
        </p:txBody>
      </p:sp>
    </p:spTree>
    <p:extLst>
      <p:ext uri="{BB962C8B-B14F-4D97-AF65-F5344CB8AC3E}">
        <p14:creationId xmlns:p14="http://schemas.microsoft.com/office/powerpoint/2010/main" val="29795574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D456B1C-A66F-4EC5-8EF9-A5120797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Operational Capabilities &amp; Key Takeaways for Management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1D576D1-5A9A-4E5B-8876-8D9449D1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2C366D9-CE03-4D73-BA2A-FA0833C9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B6A0E4-01F3-4136-A779-06EB2255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Faster Preparation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Brings retrieved case and email evidence into one structured review with less source switching.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8BF7AF0-2E97-4B57-B0EA-0EA2FECD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23F306-1BF6-4C2A-B13A-B3E194CC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Evidence Traceability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Maps conclusions to a final evidence register so the supporting source record can be inspected.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A1030A6-BD74-46FF-8E62-92F8E538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992EA5-27A4-4B68-AFEB-D0C0A0AE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Earlier Escalation Signals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Surfaces dated ownership, dispatch, staleness, and source-gap signals without claiming a resolution outcome.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19354E3-7DAB-46EF-AEFE-FE09E206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66160"/>
            <a:ext cx="10728655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E3F0AAE-1189-4D30-862F-031AF36E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49039"/>
            <a:ext cx="10362895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Use in Practice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setup_env.ps1 deploys the pack to each manager workstation.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MANAGER_ONBOARDING_GUIDE.html covers sign-in, review prompts, and troubleshooting.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Technical feedback can expand the domain references while the evidence gate remains unchanged.</a:t>
            </a:r>
          </a:p>
        </p:txBody>
      </p:sp>
    </p:spTree>
    <p:extLst>
      <p:ext uri="{BB962C8B-B14F-4D97-AF65-F5344CB8AC3E}">
        <p14:creationId xmlns:p14="http://schemas.microsoft.com/office/powerpoint/2010/main" val="9855536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2026-08-23T02:39:26.3150000Z</dcterms:created>
  <dcterms:modified xsi:type="dcterms:W3CDTF">2026-08-23T02:39:26.3150000Z</dcterms:modified>
</coreProperties>
</file>